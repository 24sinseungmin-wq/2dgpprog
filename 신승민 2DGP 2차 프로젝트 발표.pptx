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B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049B5B-A2E3-5FBB-555C-29AD1A29E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7830AE-E7BB-1E11-7ED3-BB50367F5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056B62-3688-7EA6-BCED-AD58765E2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C77C8E-2329-FDB0-F650-4BD03A620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5E0F5F-566C-2E83-57CD-E11BB4B6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451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6BD2A-713C-2233-CE6A-08D2CF7FB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0653E5-6FB9-F5AA-CD63-1F6BAD245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947F4-BDBF-4E27-19C5-EC13144AA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FE924E-7185-2B60-BB93-6005AE16E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8E0199-1D41-DF7E-AF4B-51BBFDBBE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203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3A39E-AF1D-81F8-345F-C23068F7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C811B5-2DC3-A12B-4F30-8516662D3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B901BD-A301-C5D2-55CF-92170DD6C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3BA522-984B-0416-D062-B62A162E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FD375E-A369-36A6-D9D6-B2DBF2CE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782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4ECAA-3037-5778-59B9-42B9BA21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C8B43E-2A79-17EF-B084-F61B271D5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F20C7B-8D91-D2CE-1305-6620D57B4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B9DE97-6D48-1300-60F3-2294DE7E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4223DC-7233-B9A7-0E16-7C951E3B5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791DF5-57CB-E66E-2F1D-1056653B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87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473BA-20BE-CFA2-EAE8-19CF9C79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B05977-1140-0AE1-1919-F4B6651E2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5E45B5-F15F-24D0-30F2-A750E72E2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C642F6-97A5-A16F-5E0D-6B4E56845E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E73A31-63DB-16AA-F2DB-AA00880F9C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9691BE2-A158-67E5-65CE-8D7EA4858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767BF1-EC27-4A38-3DBE-D25CB310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BE4AB6-24DA-5920-9F6B-0B2219B8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76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1064B-F11E-AEBA-2B23-6F044FA7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852B68-4E24-F926-C3F7-1AC9920F7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3BC16B-2AC6-4025-5560-CAB3B5F2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0208A1-BD6D-0C2A-48FB-73A85E9B2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678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218F1B-DAB9-F66D-C6C9-C60B3030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957236-24CC-B131-9B27-BCE6B0641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ADCC3C-B664-9E82-263F-7406F653B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741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BFEE1-A146-79A4-7CB6-B9B56D8BE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52E519-6C30-F716-E963-4A89559E6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34DC8C-285E-C415-F096-6E7DA6B5B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E85FBC-3559-D14B-F82F-19E95299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C7C6F0-D76F-4AB5-7A11-2BA0F4ED7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ADFCAC-12B7-3200-22AB-E9E9C0D4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541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6DD12-8BA0-BF04-FA3D-ECFE1AB8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5D7741-257D-9811-88ED-2D77891043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B06E25-9A16-7E45-E71A-BE335B016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81DA60-E6BC-040B-BA9A-EE7316CB4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2F3400-256F-1784-41DD-D43ED6609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D8AD2E-33A2-7472-ED66-D6AA9F9B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51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2A0DC-ACFE-2AC2-5802-F22B43DD3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F2E884-5B91-7632-A197-0BD896BF8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2064C-AB54-5654-8B99-09ED88342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4D3C6C-B312-2A3F-2394-A00EFB272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A3708F-E89C-B7BC-1A87-9007272C2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25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F5D7DC-6E9F-B5BE-F208-9C2785F602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5353F2-C7B0-1ABA-5709-874DB573C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19EBD8-CC7A-D005-1F3E-65EC5DE6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A11260-3EB3-9196-6CF5-C29330D49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059C4F-B2F6-7B91-FFFE-2467981C5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92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795BF34-9975-6ED7-917E-5C2E59FB6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321EBC-E07F-3BFE-8A29-F8B04EBA4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C30E8A-D63D-6978-24D2-993D247F4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17A9C0-84E7-427B-805C-ECFC0E964A5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D0C2D-1F56-1875-7C54-792CEFC64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6F2096-4ED5-633A-FF47-7F1C12C4D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95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C744F5-778D-19FB-4107-F8B86CCBC5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en-US" altLang="ko-KR" b="1" dirty="0"/>
              <a:t>R</a:t>
            </a:r>
            <a:r>
              <a:rPr lang="en-US" altLang="ko-KR" sz="4900" dirty="0"/>
              <a:t>everse</a:t>
            </a:r>
            <a:r>
              <a:rPr lang="en-US" altLang="ko-KR" dirty="0"/>
              <a:t> </a:t>
            </a:r>
            <a:r>
              <a:rPr lang="en-US" altLang="ko-KR" b="1" dirty="0"/>
              <a:t>P</a:t>
            </a:r>
            <a:r>
              <a:rPr lang="en-US" altLang="ko-KR" sz="4900" dirty="0"/>
              <a:t>rogressing</a:t>
            </a:r>
            <a:r>
              <a:rPr lang="en-US" altLang="ko-KR" dirty="0"/>
              <a:t> </a:t>
            </a:r>
            <a:r>
              <a:rPr lang="en-US" altLang="ko-KR" b="1" dirty="0"/>
              <a:t>G</a:t>
            </a:r>
            <a:r>
              <a:rPr lang="en-US" altLang="ko-KR" sz="4900" dirty="0"/>
              <a:t>ame</a:t>
            </a:r>
            <a:br>
              <a:rPr lang="en-US" altLang="ko-KR" dirty="0"/>
            </a:br>
            <a:r>
              <a:rPr lang="ko-KR" altLang="en-US" dirty="0"/>
              <a:t>개발 프로젝트 </a:t>
            </a:r>
            <a:r>
              <a:rPr lang="en-US" altLang="ko-KR" dirty="0"/>
              <a:t>2</a:t>
            </a:r>
            <a:r>
              <a:rPr lang="ko-KR" altLang="en-US" dirty="0"/>
              <a:t>차 발표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083059-4BC0-E49C-9A26-E9022F40BE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2024182021 </a:t>
            </a:r>
            <a:r>
              <a:rPr lang="ko-KR" altLang="en-US" dirty="0"/>
              <a:t>신승민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81F54A-4810-FF4B-3308-5E65160F680E}"/>
              </a:ext>
            </a:extLst>
          </p:cNvPr>
          <p:cNvSpPr/>
          <p:nvPr/>
        </p:nvSpPr>
        <p:spPr>
          <a:xfrm>
            <a:off x="211015" y="211015"/>
            <a:ext cx="11769970" cy="6455256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358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8BBB-FF55-92F0-81DF-1E4530368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517D7-D2B9-3AAD-9103-D9E03E20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현황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AB8B73-3A77-7F32-1F34-A330FEA444DE}"/>
              </a:ext>
            </a:extLst>
          </p:cNvPr>
          <p:cNvSpPr/>
          <p:nvPr/>
        </p:nvSpPr>
        <p:spPr>
          <a:xfrm>
            <a:off x="211015" y="211015"/>
            <a:ext cx="11769970" cy="6455256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1A3FEF9-C768-04B7-3FBA-1BCF609BE0F8}"/>
              </a:ext>
            </a:extLst>
          </p:cNvPr>
          <p:cNvGrpSpPr/>
          <p:nvPr/>
        </p:nvGrpSpPr>
        <p:grpSpPr>
          <a:xfrm>
            <a:off x="1061884" y="1481004"/>
            <a:ext cx="3008671" cy="1370350"/>
            <a:chOff x="838200" y="1386349"/>
            <a:chExt cx="2851355" cy="2831690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849A840A-C14A-064F-9E3A-4705F27E646C}"/>
                </a:ext>
              </a:extLst>
            </p:cNvPr>
            <p:cNvSpPr/>
            <p:nvPr/>
          </p:nvSpPr>
          <p:spPr>
            <a:xfrm>
              <a:off x="838200" y="1386349"/>
              <a:ext cx="2851355" cy="283169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4DAF989-AE77-8696-9452-9410F97691C0}"/>
                </a:ext>
              </a:extLst>
            </p:cNvPr>
            <p:cNvSpPr txBox="1"/>
            <p:nvPr/>
          </p:nvSpPr>
          <p:spPr>
            <a:xfrm>
              <a:off x="838200" y="1471249"/>
              <a:ext cx="2816941" cy="82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1</a:t>
              </a:r>
              <a:r>
                <a:rPr lang="ko-KR" altLang="en-US" sz="2000" dirty="0"/>
                <a:t>주차</a:t>
              </a:r>
              <a:r>
                <a:rPr lang="en-US" altLang="ko-KR" sz="2000" dirty="0"/>
                <a:t>:</a:t>
              </a:r>
              <a:r>
                <a:rPr lang="ko-KR" altLang="en-US" sz="2000" dirty="0">
                  <a:solidFill>
                    <a:srgbClr val="FF0000"/>
                  </a:solidFill>
                </a:rPr>
                <a:t>지역</a:t>
              </a:r>
              <a:r>
                <a:rPr lang="en-US" altLang="ko-KR" sz="2000" dirty="0">
                  <a:solidFill>
                    <a:srgbClr val="FF0000"/>
                  </a:solidFill>
                </a:rPr>
                <a:t>,</a:t>
              </a:r>
              <a:r>
                <a:rPr lang="ko-KR" altLang="en-US" sz="2000" dirty="0">
                  <a:solidFill>
                    <a:srgbClr val="FF0000"/>
                  </a:solidFill>
                </a:rPr>
                <a:t>일시정지</a:t>
              </a:r>
              <a:r>
                <a:rPr lang="ko-KR" altLang="en-US" sz="2000" dirty="0"/>
                <a:t> 등</a:t>
              </a:r>
              <a:endParaRPr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3CA3DD9-17D0-1954-6E1E-E1C2D35E639B}"/>
                </a:ext>
              </a:extLst>
            </p:cNvPr>
            <p:cNvSpPr txBox="1"/>
            <p:nvPr/>
          </p:nvSpPr>
          <p:spPr>
            <a:xfrm>
              <a:off x="1018867" y="2259045"/>
              <a:ext cx="2490020" cy="1717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rgbClr val="00B050"/>
                  </a:solidFill>
                </a:rPr>
                <a:t>기본 게임루프</a:t>
              </a:r>
              <a:endParaRPr lang="en-US" altLang="ko-KR" sz="1200" dirty="0"/>
            </a:p>
            <a:p>
              <a:pPr algn="ctr"/>
              <a:r>
                <a:rPr lang="ko-KR" altLang="en-US" sz="1200" dirty="0">
                  <a:solidFill>
                    <a:srgbClr val="FF0000"/>
                  </a:solidFill>
                </a:rPr>
                <a:t>플레이 상태</a:t>
              </a:r>
              <a:r>
                <a:rPr lang="en-US" altLang="ko-KR" sz="1200" dirty="0">
                  <a:solidFill>
                    <a:srgbClr val="FF0000"/>
                  </a:solidFill>
                </a:rPr>
                <a:t>(</a:t>
              </a:r>
              <a:r>
                <a:rPr lang="ko-KR" altLang="en-US" sz="1200" dirty="0" err="1">
                  <a:solidFill>
                    <a:srgbClr val="FF0000"/>
                  </a:solidFill>
                </a:rPr>
                <a:t>컷신</a:t>
              </a:r>
              <a:r>
                <a:rPr lang="en-US" altLang="ko-KR" sz="1200" dirty="0">
                  <a:solidFill>
                    <a:srgbClr val="FF0000"/>
                  </a:solidFill>
                </a:rPr>
                <a:t>/</a:t>
              </a:r>
              <a:r>
                <a:rPr lang="ko-KR" altLang="en-US" sz="1200" dirty="0">
                  <a:solidFill>
                    <a:srgbClr val="FF0000"/>
                  </a:solidFill>
                </a:rPr>
                <a:t>반투명 </a:t>
              </a:r>
              <a:r>
                <a:rPr lang="en-US" altLang="ko-KR" sz="1200" dirty="0">
                  <a:solidFill>
                    <a:srgbClr val="FF0000"/>
                  </a:solidFill>
                </a:rPr>
                <a:t>UI/</a:t>
              </a:r>
              <a:r>
                <a:rPr lang="ko-KR" altLang="en-US" sz="1200" dirty="0">
                  <a:solidFill>
                    <a:srgbClr val="FF0000"/>
                  </a:solidFill>
                </a:rPr>
                <a:t>플레이 중</a:t>
              </a:r>
              <a:r>
                <a:rPr lang="en-US" altLang="ko-KR" sz="1200" dirty="0">
                  <a:solidFill>
                    <a:srgbClr val="FF0000"/>
                  </a:solidFill>
                </a:rPr>
                <a:t>), </a:t>
              </a:r>
              <a:r>
                <a:rPr lang="ko-KR" altLang="en-US" sz="1200" dirty="0">
                  <a:solidFill>
                    <a:srgbClr val="FF0000"/>
                  </a:solidFill>
                </a:rPr>
                <a:t>일시정지 여부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rgbClr val="FF0000"/>
                  </a:solidFill>
                </a:rPr>
                <a:t>지도 제작</a:t>
              </a:r>
              <a:r>
                <a:rPr lang="en-US" altLang="ko-KR" sz="1200" dirty="0">
                  <a:solidFill>
                    <a:srgbClr val="FF0000"/>
                  </a:solidFill>
                </a:rPr>
                <a:t>, </a:t>
              </a:r>
              <a:r>
                <a:rPr lang="ko-KR" altLang="en-US" sz="1200" dirty="0">
                  <a:solidFill>
                    <a:srgbClr val="FF0000"/>
                  </a:solidFill>
                </a:rPr>
                <a:t>해금된 지역간 이동</a:t>
              </a:r>
              <a:endParaRPr lang="en-US" altLang="ko-KR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81B984AB-66C4-4526-2077-4AB0E0166A0E}"/>
              </a:ext>
            </a:extLst>
          </p:cNvPr>
          <p:cNvGrpSpPr/>
          <p:nvPr/>
        </p:nvGrpSpPr>
        <p:grpSpPr>
          <a:xfrm>
            <a:off x="4296697" y="1481004"/>
            <a:ext cx="3008671" cy="1370350"/>
            <a:chOff x="838200" y="1386349"/>
            <a:chExt cx="2851355" cy="2831690"/>
          </a:xfrm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CDFB27EC-AD5A-7B8B-2657-9D0027C0EAE5}"/>
                </a:ext>
              </a:extLst>
            </p:cNvPr>
            <p:cNvSpPr/>
            <p:nvPr/>
          </p:nvSpPr>
          <p:spPr>
            <a:xfrm>
              <a:off x="838200" y="1386349"/>
              <a:ext cx="2851355" cy="283169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55F6E43-90BD-33C4-4F1F-D47F577CAAB4}"/>
                </a:ext>
              </a:extLst>
            </p:cNvPr>
            <p:cNvSpPr txBox="1"/>
            <p:nvPr/>
          </p:nvSpPr>
          <p:spPr>
            <a:xfrm>
              <a:off x="838200" y="1471249"/>
              <a:ext cx="2816941" cy="82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2</a:t>
              </a:r>
              <a:r>
                <a:rPr lang="ko-KR" altLang="en-US" sz="2000" dirty="0"/>
                <a:t>주차</a:t>
              </a:r>
              <a:r>
                <a:rPr lang="en-US" altLang="ko-KR" sz="2000" dirty="0"/>
                <a:t>:</a:t>
              </a:r>
              <a:r>
                <a:rPr lang="ko-KR" altLang="en-US" sz="2000" dirty="0"/>
                <a:t>플레이어</a:t>
              </a:r>
              <a:endParaRPr lang="ko-KR" alt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C8F140B-CFFE-20F4-A364-6CEE6EE63CD9}"/>
                </a:ext>
              </a:extLst>
            </p:cNvPr>
            <p:cNvSpPr txBox="1"/>
            <p:nvPr/>
          </p:nvSpPr>
          <p:spPr>
            <a:xfrm>
              <a:off x="1018867" y="2259045"/>
              <a:ext cx="2490020" cy="1335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rgbClr val="00B050"/>
                  </a:solidFill>
                </a:rPr>
                <a:t>플레이어 이동</a:t>
              </a:r>
              <a:r>
                <a:rPr lang="en-US" altLang="ko-KR" sz="1200" dirty="0"/>
                <a:t>, </a:t>
              </a:r>
              <a:r>
                <a:rPr lang="ko-KR" altLang="en-US" sz="1200" dirty="0">
                  <a:solidFill>
                    <a:srgbClr val="FFC000"/>
                  </a:solidFill>
                </a:rPr>
                <a:t>체력</a:t>
              </a:r>
              <a:r>
                <a:rPr lang="en-US" altLang="ko-KR" sz="1200" dirty="0"/>
                <a:t>,</a:t>
              </a:r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ko-KR" altLang="en-US" sz="1200" dirty="0">
                  <a:solidFill>
                    <a:srgbClr val="FF0000"/>
                  </a:solidFill>
                </a:rPr>
                <a:t>인벤토리</a:t>
              </a:r>
              <a:r>
                <a:rPr lang="en-US" altLang="ko-KR" sz="1200" dirty="0">
                  <a:solidFill>
                    <a:srgbClr val="FF0000"/>
                  </a:solidFill>
                </a:rPr>
                <a:t>,</a:t>
              </a:r>
              <a:r>
                <a:rPr lang="ko-KR" altLang="en-US" sz="1200" dirty="0">
                  <a:solidFill>
                    <a:srgbClr val="FF0000"/>
                  </a:solidFill>
                </a:rPr>
                <a:t> 부활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rgbClr val="FF0000"/>
                  </a:solidFill>
                </a:rPr>
                <a:t>역순 진행 중 모순</a:t>
              </a:r>
              <a:r>
                <a:rPr lang="en-US" altLang="ko-KR" sz="1200" dirty="0">
                  <a:solidFill>
                    <a:srgbClr val="FF0000"/>
                  </a:solidFill>
                </a:rPr>
                <a:t>, </a:t>
              </a:r>
              <a:r>
                <a:rPr lang="ko-KR" altLang="en-US" sz="1200" dirty="0">
                  <a:solidFill>
                    <a:srgbClr val="FF0000"/>
                  </a:solidFill>
                </a:rPr>
                <a:t>게임 오버</a:t>
              </a:r>
              <a:endParaRPr lang="en-US" altLang="ko-KR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B47E1571-5487-CBE2-25CB-F47F0A3D6CB7}"/>
              </a:ext>
            </a:extLst>
          </p:cNvPr>
          <p:cNvGrpSpPr/>
          <p:nvPr/>
        </p:nvGrpSpPr>
        <p:grpSpPr>
          <a:xfrm>
            <a:off x="7486135" y="1481004"/>
            <a:ext cx="3008671" cy="1714480"/>
            <a:chOff x="838200" y="1386349"/>
            <a:chExt cx="2851355" cy="5925416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69622FD4-A2B8-11F2-517E-EF7DF8C468F4}"/>
                </a:ext>
              </a:extLst>
            </p:cNvPr>
            <p:cNvSpPr/>
            <p:nvPr/>
          </p:nvSpPr>
          <p:spPr>
            <a:xfrm>
              <a:off x="838200" y="1386349"/>
              <a:ext cx="2851355" cy="592541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E4EAF5A-48AB-9A9A-A255-59D9AE99FCF8}"/>
                </a:ext>
              </a:extLst>
            </p:cNvPr>
            <p:cNvSpPr txBox="1"/>
            <p:nvPr/>
          </p:nvSpPr>
          <p:spPr>
            <a:xfrm>
              <a:off x="838200" y="1471248"/>
              <a:ext cx="2816941" cy="1382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2</a:t>
              </a:r>
              <a:r>
                <a:rPr lang="ko-KR" altLang="en-US" sz="2000" dirty="0"/>
                <a:t>주차</a:t>
              </a:r>
              <a:r>
                <a:rPr lang="en-US" altLang="ko-KR" sz="2000" dirty="0"/>
                <a:t>~:</a:t>
              </a:r>
              <a:r>
                <a:rPr lang="ko-KR" altLang="en-US" sz="2000" dirty="0"/>
                <a:t>적</a:t>
              </a:r>
              <a:r>
                <a:rPr lang="en-US" altLang="ko-KR" sz="2000" dirty="0"/>
                <a:t>,</a:t>
              </a:r>
              <a:r>
                <a:rPr lang="ko-KR" altLang="en-US" sz="2000" dirty="0" err="1"/>
                <a:t>파티클</a:t>
              </a:r>
              <a:endParaRPr lang="ko-KR" alt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057A053-E060-F561-C20F-9BE3A960EFE1}"/>
                </a:ext>
              </a:extLst>
            </p:cNvPr>
            <p:cNvSpPr txBox="1"/>
            <p:nvPr/>
          </p:nvSpPr>
          <p:spPr>
            <a:xfrm>
              <a:off x="838200" y="2479372"/>
              <a:ext cx="2851354" cy="47866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적 </a:t>
              </a:r>
              <a:r>
                <a:rPr lang="ko-KR" altLang="en-US" sz="1200" dirty="0">
                  <a:solidFill>
                    <a:srgbClr val="00B050"/>
                  </a:solidFill>
                </a:rPr>
                <a:t>일반</a:t>
              </a:r>
              <a:r>
                <a:rPr lang="en-US" altLang="ko-KR" sz="1200" dirty="0"/>
                <a:t>/</a:t>
              </a:r>
              <a:r>
                <a:rPr lang="ko-KR" altLang="en-US" sz="1200" dirty="0">
                  <a:solidFill>
                    <a:srgbClr val="FF0000"/>
                  </a:solidFill>
                </a:rPr>
                <a:t>역순</a:t>
              </a:r>
              <a:r>
                <a:rPr lang="en-US" altLang="ko-KR" sz="1200" dirty="0"/>
                <a:t>, </a:t>
              </a:r>
              <a:r>
                <a:rPr lang="ko-KR" altLang="en-US" sz="1200" dirty="0">
                  <a:solidFill>
                    <a:srgbClr val="00B050"/>
                  </a:solidFill>
                </a:rPr>
                <a:t>거리</a:t>
              </a:r>
              <a:r>
                <a:rPr lang="en-US" altLang="ko-KR" sz="1200" dirty="0">
                  <a:solidFill>
                    <a:srgbClr val="00B050"/>
                  </a:solidFill>
                </a:rPr>
                <a:t> </a:t>
              </a:r>
              <a:r>
                <a:rPr lang="ko-KR" altLang="en-US" sz="1200" dirty="0">
                  <a:solidFill>
                    <a:srgbClr val="00B050"/>
                  </a:solidFill>
                </a:rPr>
                <a:t>등을 인지하는 인공지능</a:t>
              </a:r>
              <a:endParaRPr lang="en-US" altLang="ko-KR" sz="1200" dirty="0">
                <a:solidFill>
                  <a:srgbClr val="92D050"/>
                </a:solidFill>
              </a:endParaRPr>
            </a:p>
            <a:p>
              <a:pPr algn="ctr"/>
              <a:r>
                <a:rPr lang="ko-KR" altLang="en-US" sz="1200" dirty="0" err="1">
                  <a:solidFill>
                    <a:srgbClr val="FF0000"/>
                  </a:solidFill>
                </a:rPr>
                <a:t>파티클을</a:t>
              </a:r>
              <a:r>
                <a:rPr lang="ko-KR" altLang="en-US" sz="1200" dirty="0">
                  <a:solidFill>
                    <a:srgbClr val="FF0000"/>
                  </a:solidFill>
                </a:rPr>
                <a:t> 활용한 공격범위 표시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rgbClr val="FF0000"/>
                  </a:solidFill>
                </a:rPr>
                <a:t>패턴마다 </a:t>
              </a:r>
              <a:r>
                <a:rPr lang="ko-KR" altLang="en-US" sz="1200" dirty="0" err="1">
                  <a:solidFill>
                    <a:srgbClr val="FF0000"/>
                  </a:solidFill>
                </a:rPr>
                <a:t>공격시</a:t>
              </a:r>
              <a:r>
                <a:rPr lang="ko-KR" altLang="en-US" sz="1200" dirty="0">
                  <a:solidFill>
                    <a:srgbClr val="FF0000"/>
                  </a:solidFill>
                </a:rPr>
                <a:t> 플레이어의 체력</a:t>
              </a:r>
              <a:r>
                <a:rPr lang="en-US" altLang="ko-KR" sz="1200" dirty="0">
                  <a:solidFill>
                    <a:srgbClr val="FF0000"/>
                  </a:solidFill>
                </a:rPr>
                <a:t>/</a:t>
              </a:r>
              <a:r>
                <a:rPr lang="ko-KR" altLang="en-US" sz="1200" dirty="0">
                  <a:solidFill>
                    <a:srgbClr val="FF0000"/>
                  </a:solidFill>
                </a:rPr>
                <a:t>모순 변화</a:t>
              </a:r>
              <a:r>
                <a:rPr lang="en-US" altLang="ko-KR" sz="1200" dirty="0">
                  <a:solidFill>
                    <a:srgbClr val="FF0000"/>
                  </a:solidFill>
                </a:rPr>
                <a:t>, </a:t>
              </a:r>
              <a:r>
                <a:rPr lang="ko-KR" altLang="en-US" sz="1200" dirty="0">
                  <a:solidFill>
                    <a:srgbClr val="FF0000"/>
                  </a:solidFill>
                </a:rPr>
                <a:t>일반</a:t>
              </a:r>
              <a:r>
                <a:rPr lang="en-US" altLang="ko-KR" sz="1200" dirty="0">
                  <a:solidFill>
                    <a:srgbClr val="FF0000"/>
                  </a:solidFill>
                </a:rPr>
                <a:t>/</a:t>
              </a:r>
              <a:r>
                <a:rPr lang="ko-KR" altLang="en-US" sz="1200" dirty="0">
                  <a:solidFill>
                    <a:srgbClr val="FF0000"/>
                  </a:solidFill>
                </a:rPr>
                <a:t>역순 상태에서 처치</a:t>
              </a:r>
              <a:r>
                <a:rPr lang="en-US" altLang="ko-KR" sz="1200" dirty="0">
                  <a:solidFill>
                    <a:srgbClr val="FF0000"/>
                  </a:solidFill>
                </a:rPr>
                <a:t>/</a:t>
              </a:r>
              <a:r>
                <a:rPr lang="ko-KR" altLang="en-US" sz="1200" dirty="0">
                  <a:solidFill>
                    <a:srgbClr val="FF0000"/>
                  </a:solidFill>
                </a:rPr>
                <a:t>생성</a:t>
              </a:r>
              <a:r>
                <a:rPr lang="en-US" altLang="ko-KR" sz="1200" dirty="0">
                  <a:solidFill>
                    <a:srgbClr val="FF0000"/>
                  </a:solidFill>
                </a:rPr>
                <a:t>/</a:t>
              </a:r>
              <a:r>
                <a:rPr lang="ko-KR" altLang="en-US" sz="1200" dirty="0" err="1">
                  <a:solidFill>
                    <a:srgbClr val="FF0000"/>
                  </a:solidFill>
                </a:rPr>
                <a:t>디스폰</a:t>
              </a:r>
              <a:r>
                <a:rPr lang="ko-KR" altLang="en-US" sz="1200" dirty="0">
                  <a:solidFill>
                    <a:srgbClr val="FF0000"/>
                  </a:solidFill>
                </a:rPr>
                <a:t> 등 메커니즘 변화 등</a:t>
              </a:r>
              <a:r>
                <a:rPr lang="en-US" altLang="ko-KR" sz="1200" dirty="0">
                  <a:solidFill>
                    <a:srgbClr val="FF0000"/>
                  </a:solidFill>
                </a:rPr>
                <a:t>…</a:t>
              </a:r>
            </a:p>
            <a:p>
              <a:pPr algn="ctr"/>
              <a:r>
                <a:rPr lang="ko-KR" altLang="en-US" sz="1200" dirty="0"/>
                <a:t>이후 가능하다면 계속하여 추가 예정</a:t>
              </a:r>
              <a:endParaRPr lang="en-US" altLang="ko-KR" sz="12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426CFC7-A086-3837-7B91-23AD16452DF1}"/>
              </a:ext>
            </a:extLst>
          </p:cNvPr>
          <p:cNvGrpSpPr/>
          <p:nvPr/>
        </p:nvGrpSpPr>
        <p:grpSpPr>
          <a:xfrm>
            <a:off x="1061884" y="2978162"/>
            <a:ext cx="3008671" cy="1437990"/>
            <a:chOff x="838200" y="1386349"/>
            <a:chExt cx="2851355" cy="2971461"/>
          </a:xfrm>
        </p:grpSpPr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95E40C05-AD8A-52D4-50C3-F4C049901E64}"/>
                </a:ext>
              </a:extLst>
            </p:cNvPr>
            <p:cNvSpPr/>
            <p:nvPr/>
          </p:nvSpPr>
          <p:spPr>
            <a:xfrm>
              <a:off x="838200" y="1386349"/>
              <a:ext cx="2851355" cy="283169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5AFA78E-FB89-721E-3775-3593D8093B6E}"/>
                </a:ext>
              </a:extLst>
            </p:cNvPr>
            <p:cNvSpPr txBox="1"/>
            <p:nvPr/>
          </p:nvSpPr>
          <p:spPr>
            <a:xfrm>
              <a:off x="838200" y="1471249"/>
              <a:ext cx="2816941" cy="82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rgbClr val="FF0000"/>
                  </a:solidFill>
                </a:rPr>
                <a:t>5</a:t>
              </a:r>
              <a:r>
                <a:rPr lang="ko-KR" altLang="en-US" sz="2000" dirty="0">
                  <a:solidFill>
                    <a:srgbClr val="FF0000"/>
                  </a:solidFill>
                </a:rPr>
                <a:t>주차</a:t>
              </a:r>
              <a:r>
                <a:rPr lang="en-US" altLang="ko-KR" sz="2000" dirty="0">
                  <a:solidFill>
                    <a:srgbClr val="FF0000"/>
                  </a:solidFill>
                </a:rPr>
                <a:t>:</a:t>
              </a:r>
              <a:r>
                <a:rPr lang="ko-KR" altLang="en-US" sz="2000" dirty="0">
                  <a:solidFill>
                    <a:srgbClr val="FF0000"/>
                  </a:solidFill>
                </a:rPr>
                <a:t>보스</a:t>
              </a:r>
              <a:r>
                <a:rPr lang="en-US" altLang="ko-KR" sz="2000" dirty="0">
                  <a:solidFill>
                    <a:srgbClr val="FF0000"/>
                  </a:solidFill>
                </a:rPr>
                <a:t>,UI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4898F65-2A1D-E3F4-E772-2DE8EE88E75D}"/>
                </a:ext>
              </a:extLst>
            </p:cNvPr>
            <p:cNvSpPr txBox="1"/>
            <p:nvPr/>
          </p:nvSpPr>
          <p:spPr>
            <a:xfrm>
              <a:off x="838200" y="2259045"/>
              <a:ext cx="2851354" cy="2098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rgbClr val="FF0000"/>
                  </a:solidFill>
                </a:rPr>
                <a:t>보스는 적의 일종으로 생성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rgbClr val="FF0000"/>
                  </a:solidFill>
                </a:rPr>
                <a:t>보스 처치</a:t>
              </a:r>
              <a:r>
                <a:rPr lang="en-US" altLang="ko-KR" sz="1200" dirty="0">
                  <a:solidFill>
                    <a:srgbClr val="FF0000"/>
                  </a:solidFill>
                </a:rPr>
                <a:t>/</a:t>
              </a:r>
              <a:r>
                <a:rPr lang="ko-KR" altLang="en-US" sz="1200" dirty="0" err="1">
                  <a:solidFill>
                    <a:srgbClr val="FF0000"/>
                  </a:solidFill>
                </a:rPr>
                <a:t>디스폰</a:t>
              </a:r>
              <a:r>
                <a:rPr lang="ko-KR" altLang="en-US" sz="1200" dirty="0">
                  <a:solidFill>
                    <a:srgbClr val="FF0000"/>
                  </a:solidFill>
                </a:rPr>
                <a:t> 시 지역 해금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rgbClr val="FF0000"/>
                  </a:solidFill>
                </a:rPr>
                <a:t>일반</a:t>
              </a:r>
              <a:r>
                <a:rPr lang="en-US" altLang="ko-KR" sz="1200" dirty="0">
                  <a:solidFill>
                    <a:srgbClr val="FF0000"/>
                  </a:solidFill>
                </a:rPr>
                <a:t>/</a:t>
              </a:r>
              <a:r>
                <a:rPr lang="ko-KR" altLang="en-US" sz="1200" dirty="0">
                  <a:solidFill>
                    <a:srgbClr val="FF0000"/>
                  </a:solidFill>
                </a:rPr>
                <a:t>역순 상태에 따라 나타나는 </a:t>
              </a:r>
              <a:r>
                <a:rPr lang="en-US" altLang="ko-KR" sz="1200" dirty="0">
                  <a:solidFill>
                    <a:srgbClr val="FF0000"/>
                  </a:solidFill>
                </a:rPr>
                <a:t>UI</a:t>
              </a:r>
              <a:r>
                <a:rPr lang="ko-KR" altLang="en-US" sz="1200" dirty="0">
                  <a:solidFill>
                    <a:srgbClr val="FF0000"/>
                  </a:solidFill>
                </a:rPr>
                <a:t> 변화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ctr"/>
              <a:endParaRPr lang="en-US" altLang="ko-KR" sz="1200" dirty="0"/>
            </a:p>
            <a:p>
              <a:pPr algn="ctr"/>
              <a:endParaRPr lang="en-US" altLang="ko-KR" sz="1200" dirty="0"/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285B6DD1-0602-608A-EBEF-4646F221EDB3}"/>
              </a:ext>
            </a:extLst>
          </p:cNvPr>
          <p:cNvGrpSpPr/>
          <p:nvPr/>
        </p:nvGrpSpPr>
        <p:grpSpPr>
          <a:xfrm>
            <a:off x="7449822" y="3363378"/>
            <a:ext cx="3008671" cy="1050267"/>
            <a:chOff x="838200" y="1386349"/>
            <a:chExt cx="2851355" cy="3018909"/>
          </a:xfrm>
        </p:grpSpPr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FEC4F70C-48A8-A785-C4C7-C96D58CDFCE4}"/>
                </a:ext>
              </a:extLst>
            </p:cNvPr>
            <p:cNvSpPr/>
            <p:nvPr/>
          </p:nvSpPr>
          <p:spPr>
            <a:xfrm>
              <a:off x="838200" y="1386349"/>
              <a:ext cx="2851355" cy="283169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3089A5-8F5D-5356-CC92-5CADB5536B86}"/>
                </a:ext>
              </a:extLst>
            </p:cNvPr>
            <p:cNvSpPr txBox="1"/>
            <p:nvPr/>
          </p:nvSpPr>
          <p:spPr>
            <a:xfrm>
              <a:off x="838200" y="1471248"/>
              <a:ext cx="2816941" cy="1150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rgbClr val="00B050"/>
                  </a:solidFill>
                </a:rPr>
                <a:t>5~6</a:t>
              </a:r>
              <a:r>
                <a:rPr lang="ko-KR" altLang="en-US" sz="2000" dirty="0">
                  <a:solidFill>
                    <a:srgbClr val="00B050"/>
                  </a:solidFill>
                </a:rPr>
                <a:t>주차</a:t>
              </a:r>
              <a:r>
                <a:rPr lang="en-US" altLang="ko-KR" sz="2000" dirty="0">
                  <a:solidFill>
                    <a:srgbClr val="00B050"/>
                  </a:solidFill>
                </a:rPr>
                <a:t>:</a:t>
              </a:r>
              <a:r>
                <a:rPr lang="ko-KR" altLang="en-US" sz="2000" dirty="0" err="1">
                  <a:solidFill>
                    <a:srgbClr val="00B050"/>
                  </a:solidFill>
                </a:rPr>
                <a:t>스프라이트</a:t>
              </a:r>
              <a:endParaRPr lang="ko-KR" altLang="en-US" dirty="0">
                <a:solidFill>
                  <a:srgbClr val="00B050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6225777-DFFE-4F2C-3972-10A78C94D6BA}"/>
                </a:ext>
              </a:extLst>
            </p:cNvPr>
            <p:cNvSpPr txBox="1"/>
            <p:nvPr/>
          </p:nvSpPr>
          <p:spPr>
            <a:xfrm>
              <a:off x="838200" y="2547431"/>
              <a:ext cx="2851354" cy="1857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rgbClr val="00B050"/>
                  </a:solidFill>
                </a:rPr>
                <a:t>테스트용 이미지들을 모두 적절한 리소스로 교체</a:t>
              </a:r>
              <a:r>
                <a:rPr lang="en-US" altLang="ko-KR" sz="1200" dirty="0">
                  <a:solidFill>
                    <a:srgbClr val="00B050"/>
                  </a:solidFill>
                </a:rPr>
                <a:t>, </a:t>
              </a:r>
              <a:r>
                <a:rPr lang="ko-KR" altLang="en-US" sz="1200" dirty="0" err="1">
                  <a:solidFill>
                    <a:srgbClr val="00B050"/>
                  </a:solidFill>
                </a:rPr>
                <a:t>스프라이트</a:t>
              </a:r>
              <a:r>
                <a:rPr lang="ko-KR" altLang="en-US" sz="1200" dirty="0">
                  <a:solidFill>
                    <a:srgbClr val="00B050"/>
                  </a:solidFill>
                </a:rPr>
                <a:t> 애니메이션 적용</a:t>
              </a:r>
              <a:endParaRPr lang="en-US" altLang="ko-KR" sz="1200" dirty="0">
                <a:solidFill>
                  <a:srgbClr val="00B050"/>
                </a:solidFill>
              </a:endParaRPr>
            </a:p>
            <a:p>
              <a:pPr algn="ctr"/>
              <a:endParaRPr lang="en-US" altLang="ko-KR" sz="1200" dirty="0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E352E793-F3E9-FB2B-CAD5-4FCA0D8B2DFD}"/>
              </a:ext>
            </a:extLst>
          </p:cNvPr>
          <p:cNvGrpSpPr/>
          <p:nvPr/>
        </p:nvGrpSpPr>
        <p:grpSpPr>
          <a:xfrm>
            <a:off x="2548063" y="4475320"/>
            <a:ext cx="3008671" cy="1437990"/>
            <a:chOff x="838200" y="1386349"/>
            <a:chExt cx="2851355" cy="2971461"/>
          </a:xfrm>
          <a:solidFill>
            <a:schemeClr val="bg1">
              <a:lumMod val="95000"/>
            </a:schemeClr>
          </a:solidFill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7BEAB2FB-F56C-58DA-B8C7-23D383BEB72E}"/>
                </a:ext>
              </a:extLst>
            </p:cNvPr>
            <p:cNvSpPr/>
            <p:nvPr/>
          </p:nvSpPr>
          <p:spPr>
            <a:xfrm>
              <a:off x="838200" y="1386349"/>
              <a:ext cx="2851355" cy="2831690"/>
            </a:xfrm>
            <a:prstGeom prst="round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E13284B-545D-7D37-647E-F7ECC7F357E4}"/>
                </a:ext>
              </a:extLst>
            </p:cNvPr>
            <p:cNvSpPr txBox="1"/>
            <p:nvPr/>
          </p:nvSpPr>
          <p:spPr>
            <a:xfrm>
              <a:off x="838200" y="1471249"/>
              <a:ext cx="2816941" cy="8267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>
                      <a:lumMod val="85000"/>
                    </a:schemeClr>
                  </a:solidFill>
                </a:rPr>
                <a:t>7~8</a:t>
              </a:r>
              <a:r>
                <a:rPr lang="ko-KR" altLang="en-US" sz="2000" dirty="0">
                  <a:solidFill>
                    <a:schemeClr val="bg1">
                      <a:lumMod val="85000"/>
                    </a:schemeClr>
                  </a:solidFill>
                </a:rPr>
                <a:t>주차</a:t>
              </a:r>
              <a:r>
                <a:rPr lang="en-US" altLang="ko-KR" sz="2000" dirty="0">
                  <a:solidFill>
                    <a:schemeClr val="bg1">
                      <a:lumMod val="85000"/>
                    </a:schemeClr>
                  </a:solidFill>
                </a:rPr>
                <a:t>:</a:t>
              </a:r>
              <a:r>
                <a:rPr lang="ko-KR" altLang="en-US" sz="2000" dirty="0">
                  <a:solidFill>
                    <a:schemeClr val="bg1">
                      <a:lumMod val="85000"/>
                    </a:schemeClr>
                  </a:solidFill>
                </a:rPr>
                <a:t>상점</a:t>
              </a:r>
              <a:r>
                <a:rPr lang="en-US" altLang="ko-KR" sz="2000" dirty="0">
                  <a:solidFill>
                    <a:schemeClr val="bg1">
                      <a:lumMod val="85000"/>
                    </a:schemeClr>
                  </a:solidFill>
                </a:rPr>
                <a:t>, </a:t>
              </a:r>
              <a:r>
                <a:rPr lang="ko-KR" altLang="en-US" sz="2000" dirty="0">
                  <a:solidFill>
                    <a:schemeClr val="bg1">
                      <a:lumMod val="85000"/>
                    </a:schemeClr>
                  </a:solidFill>
                </a:rPr>
                <a:t>장애물</a:t>
              </a:r>
              <a:endParaRPr lang="ko-KR" altLang="en-US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504DDC8-5603-9BA0-DE0F-474AD52F6058}"/>
                </a:ext>
              </a:extLst>
            </p:cNvPr>
            <p:cNvSpPr txBox="1"/>
            <p:nvPr/>
          </p:nvSpPr>
          <p:spPr>
            <a:xfrm>
              <a:off x="838200" y="2259045"/>
              <a:ext cx="2851354" cy="20987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bg1">
                      <a:lumMod val="85000"/>
                    </a:schemeClr>
                  </a:solidFill>
                </a:rPr>
                <a:t>적과 플레이어의 이동을 제한하는 장애물을 </a:t>
              </a:r>
              <a:r>
                <a:rPr lang="ko-KR" altLang="en-US" sz="1200" dirty="0" err="1">
                  <a:solidFill>
                    <a:schemeClr val="bg1">
                      <a:lumMod val="85000"/>
                    </a:schemeClr>
                  </a:solidFill>
                </a:rPr>
                <a:t>맵상에</a:t>
              </a:r>
              <a:r>
                <a:rPr lang="ko-KR" altLang="en-US" sz="1200" dirty="0">
                  <a:solidFill>
                    <a:schemeClr val="bg1">
                      <a:lumMod val="85000"/>
                    </a:schemeClr>
                  </a:solidFill>
                </a:rPr>
                <a:t> 배치</a:t>
              </a:r>
              <a:endParaRPr lang="en-US" altLang="ko-KR" sz="1200" dirty="0">
                <a:solidFill>
                  <a:schemeClr val="bg1">
                    <a:lumMod val="85000"/>
                  </a:schemeClr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bg1">
                      <a:lumMod val="85000"/>
                    </a:schemeClr>
                  </a:solidFill>
                </a:rPr>
                <a:t>일반</a:t>
              </a:r>
              <a:r>
                <a:rPr lang="en-US" altLang="ko-KR" sz="1200" dirty="0">
                  <a:solidFill>
                    <a:schemeClr val="bg1">
                      <a:lumMod val="85000"/>
                    </a:schemeClr>
                  </a:solidFill>
                </a:rPr>
                <a:t>/</a:t>
              </a:r>
              <a:r>
                <a:rPr lang="ko-KR" altLang="en-US" sz="1200" dirty="0">
                  <a:solidFill>
                    <a:schemeClr val="bg1">
                      <a:lumMod val="85000"/>
                    </a:schemeClr>
                  </a:solidFill>
                </a:rPr>
                <a:t>역순에 대응되는 상점 시스템</a:t>
              </a:r>
              <a:r>
                <a:rPr lang="en-US" altLang="ko-KR" sz="1200" dirty="0">
                  <a:solidFill>
                    <a:schemeClr val="bg1">
                      <a:lumMod val="85000"/>
                    </a:schemeClr>
                  </a:solidFill>
                </a:rPr>
                <a:t>, </a:t>
              </a:r>
              <a:r>
                <a:rPr lang="ko-KR" altLang="en-US" sz="1200" dirty="0">
                  <a:solidFill>
                    <a:schemeClr val="bg1">
                      <a:lumMod val="85000"/>
                    </a:schemeClr>
                  </a:solidFill>
                </a:rPr>
                <a:t>거래 시스템</a:t>
              </a:r>
              <a:endParaRPr lang="en-US" altLang="ko-KR" sz="1200" dirty="0">
                <a:solidFill>
                  <a:schemeClr val="bg1">
                    <a:lumMod val="85000"/>
                  </a:schemeClr>
                </a:solidFill>
              </a:endParaRPr>
            </a:p>
            <a:p>
              <a:pPr algn="ctr"/>
              <a:endParaRPr lang="en-US" altLang="ko-KR" sz="12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264F3934-C818-1397-D47F-E7A53D21115E}"/>
              </a:ext>
            </a:extLst>
          </p:cNvPr>
          <p:cNvGrpSpPr/>
          <p:nvPr/>
        </p:nvGrpSpPr>
        <p:grpSpPr>
          <a:xfrm>
            <a:off x="5927330" y="4475320"/>
            <a:ext cx="3008671" cy="1370350"/>
            <a:chOff x="838200" y="1386349"/>
            <a:chExt cx="2851355" cy="2831690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9D6AB9A8-4684-373D-8594-B0F3EBA13680}"/>
                </a:ext>
              </a:extLst>
            </p:cNvPr>
            <p:cNvSpPr/>
            <p:nvPr/>
          </p:nvSpPr>
          <p:spPr>
            <a:xfrm>
              <a:off x="838200" y="1386349"/>
              <a:ext cx="2851355" cy="283169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1807D00-A088-FF9E-888B-E2A6EFE090B4}"/>
                </a:ext>
              </a:extLst>
            </p:cNvPr>
            <p:cNvSpPr txBox="1"/>
            <p:nvPr/>
          </p:nvSpPr>
          <p:spPr>
            <a:xfrm>
              <a:off x="838200" y="1471249"/>
              <a:ext cx="2816941" cy="82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bg1">
                      <a:lumMod val="85000"/>
                    </a:schemeClr>
                  </a:solidFill>
                </a:rPr>
                <a:t>8</a:t>
              </a:r>
              <a:r>
                <a:rPr lang="ko-KR" altLang="en-US" sz="2000" dirty="0">
                  <a:solidFill>
                    <a:schemeClr val="bg1">
                      <a:lumMod val="85000"/>
                    </a:schemeClr>
                  </a:solidFill>
                </a:rPr>
                <a:t>주차</a:t>
              </a:r>
              <a:r>
                <a:rPr lang="en-US" altLang="ko-KR" sz="2000" dirty="0">
                  <a:solidFill>
                    <a:schemeClr val="bg1">
                      <a:lumMod val="85000"/>
                    </a:schemeClr>
                  </a:solidFill>
                </a:rPr>
                <a:t>~:</a:t>
              </a:r>
              <a:r>
                <a:rPr lang="ko-KR" altLang="en-US" sz="2000" dirty="0">
                  <a:solidFill>
                    <a:schemeClr val="bg1">
                      <a:lumMod val="85000"/>
                    </a:schemeClr>
                  </a:solidFill>
                </a:rPr>
                <a:t>사운드</a:t>
              </a:r>
              <a:r>
                <a:rPr lang="en-US" altLang="ko-KR" sz="2000" dirty="0">
                  <a:solidFill>
                    <a:schemeClr val="bg1">
                      <a:lumMod val="85000"/>
                    </a:schemeClr>
                  </a:solidFill>
                </a:rPr>
                <a:t>,</a:t>
              </a:r>
              <a:r>
                <a:rPr lang="ko-KR" altLang="en-US" sz="2000" dirty="0">
                  <a:solidFill>
                    <a:schemeClr val="bg1">
                      <a:lumMod val="85000"/>
                    </a:schemeClr>
                  </a:solidFill>
                </a:rPr>
                <a:t>추가</a:t>
              </a:r>
              <a:endParaRPr lang="ko-KR" altLang="en-US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910D419-822E-2A01-7BF6-2C72CF0673C2}"/>
                </a:ext>
              </a:extLst>
            </p:cNvPr>
            <p:cNvSpPr txBox="1"/>
            <p:nvPr/>
          </p:nvSpPr>
          <p:spPr>
            <a:xfrm>
              <a:off x="838200" y="2259045"/>
              <a:ext cx="2851354" cy="1717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bg1">
                      <a:lumMod val="85000"/>
                    </a:schemeClr>
                  </a:solidFill>
                </a:rPr>
                <a:t>효과음 추가</a:t>
              </a:r>
              <a:endParaRPr lang="en-US" altLang="ko-KR" sz="1200" dirty="0">
                <a:solidFill>
                  <a:schemeClr val="bg1">
                    <a:lumMod val="85000"/>
                  </a:schemeClr>
                </a:solidFill>
              </a:endParaRPr>
            </a:p>
            <a:p>
              <a:pPr algn="ctr"/>
              <a:r>
                <a:rPr lang="ko-KR" altLang="en-US" sz="1200" dirty="0" err="1">
                  <a:solidFill>
                    <a:schemeClr val="bg1">
                      <a:lumMod val="85000"/>
                    </a:schemeClr>
                  </a:solidFill>
                </a:rPr>
                <a:t>컷씬</a:t>
              </a:r>
              <a:r>
                <a:rPr lang="en-US" altLang="ko-KR" sz="1200" dirty="0">
                  <a:solidFill>
                    <a:schemeClr val="bg1">
                      <a:lumMod val="85000"/>
                    </a:schemeClr>
                  </a:solidFill>
                </a:rPr>
                <a:t> </a:t>
              </a:r>
              <a:r>
                <a:rPr lang="ko-KR" altLang="en-US" sz="1200" dirty="0">
                  <a:solidFill>
                    <a:schemeClr val="bg1">
                      <a:lumMod val="85000"/>
                    </a:schemeClr>
                  </a:solidFill>
                </a:rPr>
                <a:t>등 추가</a:t>
              </a:r>
              <a:endParaRPr lang="en-US" altLang="ko-KR" sz="1200" dirty="0">
                <a:solidFill>
                  <a:schemeClr val="bg1">
                    <a:lumMod val="85000"/>
                  </a:schemeClr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bg1">
                      <a:lumMod val="85000"/>
                    </a:schemeClr>
                  </a:solidFill>
                </a:rPr>
                <a:t>시간이 남는다면 </a:t>
              </a:r>
              <a:r>
                <a:rPr lang="ko-KR" altLang="en-US" sz="1200" dirty="0" err="1">
                  <a:solidFill>
                    <a:schemeClr val="bg1">
                      <a:lumMod val="85000"/>
                    </a:schemeClr>
                  </a:solidFill>
                </a:rPr>
                <a:t>메인화면</a:t>
              </a:r>
              <a:r>
                <a:rPr lang="en-US" altLang="ko-KR" sz="1200" dirty="0">
                  <a:solidFill>
                    <a:schemeClr val="bg1">
                      <a:lumMod val="85000"/>
                    </a:schemeClr>
                  </a:solidFill>
                </a:rPr>
                <a:t> </a:t>
              </a:r>
              <a:r>
                <a:rPr lang="ko-KR" altLang="en-US" sz="1200" dirty="0">
                  <a:solidFill>
                    <a:schemeClr val="bg1">
                      <a:lumMod val="85000"/>
                    </a:schemeClr>
                  </a:solidFill>
                </a:rPr>
                <a:t>등 추가적인 구현</a:t>
              </a:r>
              <a:r>
                <a:rPr lang="en-US" altLang="ko-KR" sz="1200" dirty="0">
                  <a:solidFill>
                    <a:schemeClr val="bg1">
                      <a:lumMod val="85000"/>
                    </a:schemeClr>
                  </a:solidFill>
                </a:rPr>
                <a:t>…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95108CB-2FC0-3D7A-0484-8DE833D3B1F5}"/>
              </a:ext>
            </a:extLst>
          </p:cNvPr>
          <p:cNvGrpSpPr/>
          <p:nvPr/>
        </p:nvGrpSpPr>
        <p:grpSpPr>
          <a:xfrm>
            <a:off x="4215009" y="2978162"/>
            <a:ext cx="3008671" cy="1370350"/>
            <a:chOff x="838200" y="1386349"/>
            <a:chExt cx="2851355" cy="283169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80C4367C-4507-7047-9F9F-7C7DDF6FA37F}"/>
                </a:ext>
              </a:extLst>
            </p:cNvPr>
            <p:cNvSpPr/>
            <p:nvPr/>
          </p:nvSpPr>
          <p:spPr>
            <a:xfrm>
              <a:off x="838200" y="1386349"/>
              <a:ext cx="2851355" cy="283169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88314D2-6F76-1ADA-E76B-5D5271A68D30}"/>
                </a:ext>
              </a:extLst>
            </p:cNvPr>
            <p:cNvSpPr txBox="1"/>
            <p:nvPr/>
          </p:nvSpPr>
          <p:spPr>
            <a:xfrm>
              <a:off x="838200" y="1471249"/>
              <a:ext cx="2816941" cy="82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/>
                <a:t>추가 제작</a:t>
              </a:r>
              <a:r>
                <a:rPr lang="en-US" altLang="ko-KR" sz="2000" dirty="0"/>
                <a:t>:</a:t>
              </a:r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A44C12-FABF-3198-C98C-1FFFB240A86E}"/>
                </a:ext>
              </a:extLst>
            </p:cNvPr>
            <p:cNvSpPr txBox="1"/>
            <p:nvPr/>
          </p:nvSpPr>
          <p:spPr>
            <a:xfrm>
              <a:off x="1018867" y="2259045"/>
              <a:ext cx="2490020" cy="1335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레이어 내에서 </a:t>
              </a:r>
              <a:r>
                <a:rPr lang="en-US" altLang="ko-KR" sz="1200" dirty="0"/>
                <a:t>y</a:t>
              </a:r>
              <a:r>
                <a:rPr lang="ko-KR" altLang="en-US" sz="1200" dirty="0"/>
                <a:t>좌표 기준으로 오브젝트 정렬</a:t>
              </a:r>
              <a:endParaRPr lang="en-US" altLang="ko-KR" sz="1200" dirty="0"/>
            </a:p>
            <a:p>
              <a:pPr algn="ctr"/>
              <a:endParaRPr lang="en-US" altLang="ko-KR" sz="12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9659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828AA6C-56D5-C013-D0BA-0E8E2063F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979" y="0"/>
            <a:ext cx="103460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61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43E5C-D880-F718-DE4C-CB465CFB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https://youtu.be/obsa3WH5FIg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66ED5-B9C0-3BA7-80F9-D4E1432D9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1044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203</Words>
  <Application>Microsoft Office PowerPoint</Application>
  <PresentationFormat>와이드스크린</PresentationFormat>
  <Paragraphs>31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 Reverse Progressing Game 개발 프로젝트 2차 발표 </vt:lpstr>
      <vt:lpstr>개발 현황</vt:lpstr>
      <vt:lpstr>PowerPoint 프레젠테이션</vt:lpstr>
      <vt:lpstr>https://youtu.be/obsa3WH5FIg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신승민(2024182021)</dc:creator>
  <cp:lastModifiedBy>신승민(2024182021)</cp:lastModifiedBy>
  <cp:revision>3</cp:revision>
  <dcterms:created xsi:type="dcterms:W3CDTF">2025-10-01T06:37:00Z</dcterms:created>
  <dcterms:modified xsi:type="dcterms:W3CDTF">2025-11-12T15:05:56Z</dcterms:modified>
</cp:coreProperties>
</file>