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B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49B5B-A2E3-5FBB-555C-29AD1A29E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7830AE-E7BB-1E11-7ED3-BB50367F5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056B62-3688-7EA6-BCED-AD58765E2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C77C8E-2329-FDB0-F650-4BD03A620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E0F5F-566C-2E83-57CD-E11BB4B6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451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6BD2A-713C-2233-CE6A-08D2CF7F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0653E5-6FB9-F5AA-CD63-1F6BAD245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947F4-BDBF-4E27-19C5-EC13144A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FE924E-7185-2B60-BB93-6005AE16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8E0199-1D41-DF7E-AF4B-51BBFDBBE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203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3A39E-AF1D-81F8-345F-C23068F7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C811B5-2DC3-A12B-4F30-8516662D3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B901BD-A301-C5D2-55CF-92170DD6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3BA522-984B-0416-D062-B62A162E9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FD375E-A369-36A6-D9D6-B2DBF2CEC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782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4ECAA-3037-5778-59B9-42B9BA21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C8B43E-2A79-17EF-B084-F61B271D5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F20C7B-8D91-D2CE-1305-6620D57B4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B9DE97-6D48-1300-60F3-2294DE7E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F4223DC-7233-B9A7-0E16-7C951E3B5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791DF5-57CB-E66E-2F1D-1056653B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687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473BA-20BE-CFA2-EAE8-19CF9C798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B05977-1140-0AE1-1919-F4B6651E2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5E45B5-F15F-24D0-30F2-A750E72E2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2C642F6-97A5-A16F-5E0D-6B4E56845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3E73A31-63DB-16AA-F2DB-AA00880F9C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691BE2-A158-67E5-65CE-8D7EA4858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8767BF1-EC27-4A38-3DBE-D25CB310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BE4AB6-24DA-5920-9F6B-0B2219B8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76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1064B-F11E-AEBA-2B23-6F044FA7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A852B68-4E24-F926-C3F7-1AC9920F7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3BC16B-2AC6-4025-5560-CAB3B5F2D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D0208A1-BD6D-0C2A-48FB-73A85E9B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678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D218F1B-DAB9-F66D-C6C9-C60B3030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957236-24CC-B131-9B27-BCE6B0641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ADCC3C-B664-9E82-263F-7406F653B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741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BFEE1-A146-79A4-7CB6-B9B56D8BE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52E519-6C30-F716-E963-4A89559E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34DC8C-285E-C415-F096-6E7DA6B5B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E85FBC-3559-D14B-F82F-19E95299E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C7C6F0-D76F-4AB5-7A11-2BA0F4ED7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ADFCAC-12B7-3200-22AB-E9E9C0D43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541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6DD12-8BA0-BF04-FA3D-ECFE1AB8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55D7741-257D-9811-88ED-2D7789104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B06E25-9A16-7E45-E71A-BE335B016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81DA60-E6BC-040B-BA9A-EE7316CB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2F3400-256F-1784-41DD-D43ED6609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D8AD2E-33A2-7472-ED66-D6AA9F9B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51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2A0DC-ACFE-2AC2-5802-F22B43DD3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4F2E884-5B91-7632-A197-0BD896BF88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2064C-AB54-5654-8B99-09ED8834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4D3C6C-B312-2A3F-2394-A00EFB272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A3708F-E89C-B7BC-1A87-9007272C2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252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8F5D7DC-6E9F-B5BE-F208-9C2785F602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5353F2-C7B0-1ABA-5709-874DB573C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19EBD8-CC7A-D005-1F3E-65EC5DE6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11260-3EB3-9196-6CF5-C29330D49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059C4F-B2F6-7B91-FFFE-2467981C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92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95BF34-9975-6ED7-917E-5C2E59FB6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2321EBC-E07F-3BFE-8A29-F8B04EBA4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30E8A-D63D-6978-24D2-993D247F4D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7A9C0-84E7-427B-805C-ECFC0E964A5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FD0C2D-1F56-1875-7C54-792CEFC64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6F2096-4ED5-633A-FF47-7F1C12C4D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D6367-00AE-4503-9A40-F930E39F08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951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C744F5-778D-19FB-4107-F8B86CCBC5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altLang="ko-KR" dirty="0"/>
            </a:br>
            <a:r>
              <a:rPr lang="en-US" altLang="ko-KR" b="1" dirty="0"/>
              <a:t>R</a:t>
            </a:r>
            <a:r>
              <a:rPr lang="en-US" altLang="ko-KR" sz="4900" dirty="0"/>
              <a:t>everse</a:t>
            </a:r>
            <a:r>
              <a:rPr lang="en-US" altLang="ko-KR" dirty="0"/>
              <a:t> </a:t>
            </a:r>
            <a:r>
              <a:rPr lang="en-US" altLang="ko-KR" b="1" dirty="0"/>
              <a:t>P</a:t>
            </a:r>
            <a:r>
              <a:rPr lang="en-US" altLang="ko-KR" sz="4900" dirty="0"/>
              <a:t>rogressing</a:t>
            </a:r>
            <a:r>
              <a:rPr lang="en-US" altLang="ko-KR" dirty="0"/>
              <a:t> </a:t>
            </a:r>
            <a:r>
              <a:rPr lang="en-US" altLang="ko-KR" b="1" dirty="0"/>
              <a:t>G</a:t>
            </a:r>
            <a:r>
              <a:rPr lang="en-US" altLang="ko-KR" sz="4900" dirty="0"/>
              <a:t>ame</a:t>
            </a:r>
            <a:br>
              <a:rPr lang="en-US" altLang="ko-KR" dirty="0"/>
            </a:br>
            <a:r>
              <a:rPr lang="ko-KR" altLang="en-US" dirty="0"/>
              <a:t>개발 프로젝트 발표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083059-4BC0-E49C-9A26-E9022F40B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2024182021 </a:t>
            </a:r>
            <a:r>
              <a:rPr lang="ko-KR" altLang="en-US" dirty="0"/>
              <a:t>신승민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81F54A-4810-FF4B-3308-5E65160F680E}"/>
              </a:ext>
            </a:extLst>
          </p:cNvPr>
          <p:cNvSpPr/>
          <p:nvPr/>
        </p:nvSpPr>
        <p:spPr>
          <a:xfrm>
            <a:off x="211015" y="211015"/>
            <a:ext cx="11769970" cy="6455256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35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2ED5E-BCA4-3206-FA22-D98137BE9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786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진행 방식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D68FFF6-AEAB-4BB5-4F60-5F9971598BF4}"/>
              </a:ext>
            </a:extLst>
          </p:cNvPr>
          <p:cNvSpPr/>
          <p:nvPr/>
        </p:nvSpPr>
        <p:spPr>
          <a:xfrm>
            <a:off x="838200" y="1386349"/>
            <a:ext cx="2851355" cy="283169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8DAB89-1D3F-F8B6-C0E9-E8BED6DF302A}"/>
              </a:ext>
            </a:extLst>
          </p:cNvPr>
          <p:cNvSpPr txBox="1"/>
          <p:nvPr/>
        </p:nvSpPr>
        <p:spPr>
          <a:xfrm>
            <a:off x="1199535" y="1471250"/>
            <a:ext cx="209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전투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AE1500-F1B0-4560-4E99-F2CAEB7E41C7}"/>
              </a:ext>
            </a:extLst>
          </p:cNvPr>
          <p:cNvSpPr txBox="1"/>
          <p:nvPr/>
        </p:nvSpPr>
        <p:spPr>
          <a:xfrm>
            <a:off x="1018867" y="2866694"/>
            <a:ext cx="2490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필드상에 생성되는</a:t>
            </a:r>
            <a:endParaRPr lang="en-US" altLang="ko-KR" sz="1600" dirty="0"/>
          </a:p>
          <a:p>
            <a:pPr algn="ctr"/>
            <a:r>
              <a:rPr lang="ko-KR" altLang="en-US" sz="1600" dirty="0"/>
              <a:t>적들을 처치하며</a:t>
            </a:r>
            <a:endParaRPr lang="en-US" altLang="ko-KR" sz="1600" dirty="0"/>
          </a:p>
          <a:p>
            <a:pPr algn="ctr"/>
            <a:r>
              <a:rPr lang="ko-KR" altLang="en-US" sz="1600" dirty="0"/>
              <a:t>골드와 경험치 획득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9184740-F5C2-9413-4895-A10C54A67D30}"/>
              </a:ext>
            </a:extLst>
          </p:cNvPr>
          <p:cNvSpPr/>
          <p:nvPr/>
        </p:nvSpPr>
        <p:spPr>
          <a:xfrm>
            <a:off x="4670322" y="1386349"/>
            <a:ext cx="2851355" cy="283169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C7067-D061-AA4A-BA0E-816168454CFF}"/>
              </a:ext>
            </a:extLst>
          </p:cNvPr>
          <p:cNvSpPr txBox="1"/>
          <p:nvPr/>
        </p:nvSpPr>
        <p:spPr>
          <a:xfrm>
            <a:off x="5031657" y="1471250"/>
            <a:ext cx="209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성장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E571A2-8911-D593-A563-6848F7E5991A}"/>
              </a:ext>
            </a:extLst>
          </p:cNvPr>
          <p:cNvSpPr txBox="1"/>
          <p:nvPr/>
        </p:nvSpPr>
        <p:spPr>
          <a:xfrm>
            <a:off x="4850989" y="2866694"/>
            <a:ext cx="2490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획득한 골드로 상점에서</a:t>
            </a:r>
            <a:endParaRPr lang="en-US" altLang="ko-KR" sz="1600" dirty="0"/>
          </a:p>
          <a:p>
            <a:pPr algn="ctr"/>
            <a:r>
              <a:rPr lang="ko-KR" altLang="en-US" sz="1600" dirty="0"/>
              <a:t>다음 등급의 장비 구매</a:t>
            </a:r>
            <a:endParaRPr lang="ko-KR" altLang="en-US" sz="1200" dirty="0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CEFC48D-A8CE-6D89-A393-0F52DE7BCDC1}"/>
              </a:ext>
            </a:extLst>
          </p:cNvPr>
          <p:cNvSpPr/>
          <p:nvPr/>
        </p:nvSpPr>
        <p:spPr>
          <a:xfrm>
            <a:off x="8502445" y="1386349"/>
            <a:ext cx="2851355" cy="283169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ABFF45-825F-A1AA-B72B-92B5B5D3A2BD}"/>
              </a:ext>
            </a:extLst>
          </p:cNvPr>
          <p:cNvSpPr txBox="1"/>
          <p:nvPr/>
        </p:nvSpPr>
        <p:spPr>
          <a:xfrm>
            <a:off x="8863780" y="1471250"/>
            <a:ext cx="209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/>
              <a:t>진행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4CCAAB-2DFB-2510-B662-A23FCA98B294}"/>
              </a:ext>
            </a:extLst>
          </p:cNvPr>
          <p:cNvSpPr txBox="1"/>
          <p:nvPr/>
        </p:nvSpPr>
        <p:spPr>
          <a:xfrm>
            <a:off x="8502444" y="2866694"/>
            <a:ext cx="2851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일정 레벨 이상을 달성하거나</a:t>
            </a:r>
            <a:endParaRPr lang="en-US" altLang="ko-KR" sz="1600" dirty="0"/>
          </a:p>
          <a:p>
            <a:pPr algn="ctr"/>
            <a:r>
              <a:rPr lang="ko-KR" altLang="en-US" sz="1600" dirty="0"/>
              <a:t>보스를 처치하여</a:t>
            </a:r>
            <a:endParaRPr lang="en-US" altLang="ko-KR" sz="1600" dirty="0"/>
          </a:p>
          <a:p>
            <a:pPr algn="ctr"/>
            <a:r>
              <a:rPr lang="ko-KR" altLang="en-US" sz="1600" dirty="0"/>
              <a:t>다음 지역으로 진행</a:t>
            </a:r>
            <a:endParaRPr lang="en-US" altLang="ko-KR" sz="1600" dirty="0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22ED723-E44D-D6B5-08A5-0887FEEE9EB3}"/>
              </a:ext>
            </a:extLst>
          </p:cNvPr>
          <p:cNvGrpSpPr/>
          <p:nvPr/>
        </p:nvGrpSpPr>
        <p:grpSpPr>
          <a:xfrm>
            <a:off x="838200" y="4630995"/>
            <a:ext cx="10515600" cy="1678366"/>
            <a:chOff x="838200" y="4378172"/>
            <a:chExt cx="10515600" cy="1754885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E622EF4-D8D0-5894-8259-4CCDC8D23AEB}"/>
                </a:ext>
              </a:extLst>
            </p:cNvPr>
            <p:cNvSpPr/>
            <p:nvPr/>
          </p:nvSpPr>
          <p:spPr>
            <a:xfrm>
              <a:off x="838200" y="4381254"/>
              <a:ext cx="10515600" cy="1751803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E24B46E-ABA6-4262-1980-589438A70FB2}"/>
                </a:ext>
              </a:extLst>
            </p:cNvPr>
            <p:cNvSpPr txBox="1"/>
            <p:nvPr/>
          </p:nvSpPr>
          <p:spPr>
            <a:xfrm>
              <a:off x="5031657" y="4378172"/>
              <a:ext cx="20942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/>
                <a:t>모순의 결정</a:t>
              </a:r>
              <a:endParaRPr lang="ko-KR" altLang="en-US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83A6303-073C-9CA7-56AA-BFBF1638A2D9}"/>
                </a:ext>
              </a:extLst>
            </p:cNvPr>
            <p:cNvSpPr txBox="1"/>
            <p:nvPr/>
          </p:nvSpPr>
          <p:spPr>
            <a:xfrm>
              <a:off x="3111907" y="4839837"/>
              <a:ext cx="5933770" cy="8688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/>
                <a:t>사기적인 효과</a:t>
              </a:r>
              <a:endParaRPr lang="en-US" altLang="ko-KR" sz="1600" dirty="0"/>
            </a:p>
            <a:p>
              <a:pPr algn="ctr"/>
              <a:r>
                <a:rPr lang="en-US" altLang="ko-KR" sz="1600" dirty="0"/>
                <a:t>-&gt;</a:t>
              </a:r>
              <a:r>
                <a:rPr lang="ko-KR" altLang="en-US" sz="1600" dirty="0"/>
                <a:t>이 과정을 일종의 조작법 튜토리얼</a:t>
              </a:r>
              <a:endParaRPr lang="en-US" altLang="ko-KR" sz="1600" dirty="0"/>
            </a:p>
            <a:p>
              <a:pPr algn="ctr"/>
              <a:r>
                <a:rPr lang="en-US" altLang="ko-KR" sz="1600" dirty="0"/>
                <a:t>‘</a:t>
              </a:r>
              <a:r>
                <a:rPr lang="ko-KR" altLang="en-US" sz="1600" dirty="0"/>
                <a:t>최종보스</a:t>
              </a:r>
              <a:r>
                <a:rPr lang="en-US" altLang="ko-KR" sz="1600" dirty="0"/>
                <a:t>’</a:t>
              </a:r>
              <a:r>
                <a:rPr lang="ko-KR" altLang="en-US" sz="1600" dirty="0"/>
                <a:t>를 잡은 뒤 게임의 진행방식이 바뀜</a:t>
              </a:r>
              <a:endParaRPr lang="en-US" altLang="ko-KR" sz="1600" dirty="0"/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75C81E1-1E8C-4D28-8889-BAC8BBF12001}"/>
              </a:ext>
            </a:extLst>
          </p:cNvPr>
          <p:cNvSpPr/>
          <p:nvPr/>
        </p:nvSpPr>
        <p:spPr>
          <a:xfrm>
            <a:off x="211015" y="211015"/>
            <a:ext cx="11769970" cy="6455256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FDE16ED-7115-D7E8-AABA-472106B147C4}"/>
              </a:ext>
            </a:extLst>
          </p:cNvPr>
          <p:cNvSpPr/>
          <p:nvPr/>
        </p:nvSpPr>
        <p:spPr>
          <a:xfrm>
            <a:off x="1027471" y="4821943"/>
            <a:ext cx="1907458" cy="9197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C1807E3-26C5-6B90-7666-C983FF14C723}"/>
              </a:ext>
            </a:extLst>
          </p:cNvPr>
          <p:cNvSpPr/>
          <p:nvPr/>
        </p:nvSpPr>
        <p:spPr>
          <a:xfrm>
            <a:off x="1027471" y="4821943"/>
            <a:ext cx="1584284" cy="9197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80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276FB-A46A-C67A-3328-611FD450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7F1F4-C854-527D-826F-CB56847DF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786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진행 방식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-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역순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266911E-8D26-A3DD-295B-619849CE7628}"/>
              </a:ext>
            </a:extLst>
          </p:cNvPr>
          <p:cNvSpPr/>
          <p:nvPr/>
        </p:nvSpPr>
        <p:spPr>
          <a:xfrm>
            <a:off x="838200" y="1386349"/>
            <a:ext cx="2851355" cy="283169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730F8-BE2A-DC15-909B-8411910663AE}"/>
              </a:ext>
            </a:extLst>
          </p:cNvPr>
          <p:cNvSpPr txBox="1"/>
          <p:nvPr/>
        </p:nvSpPr>
        <p:spPr>
          <a:xfrm>
            <a:off x="1199535" y="1458413"/>
            <a:ext cx="209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5">
                    <a:lumMod val="50000"/>
                  </a:schemeClr>
                </a:solidFill>
              </a:rPr>
              <a:t>전투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3CA1AF-D2D5-F471-2C62-F1351CE04BC1}"/>
              </a:ext>
            </a:extLst>
          </p:cNvPr>
          <p:cNvSpPr txBox="1"/>
          <p:nvPr/>
        </p:nvSpPr>
        <p:spPr>
          <a:xfrm>
            <a:off x="838201" y="2120797"/>
            <a:ext cx="285135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필드에 있을 경우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골드와 경험치가 소모되며</a:t>
            </a:r>
            <a:endParaRPr lang="en-US" altLang="ko-KR" sz="16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필드상에 </a:t>
            </a:r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적을 소환</a:t>
            </a:r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하고 </a:t>
            </a:r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물약 획득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필드상에 동시에 존재 가능한 적의 수에는 한계 존재</a:t>
            </a:r>
            <a:endParaRPr lang="en-US" altLang="ko-KR" sz="16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소환된 적은 체력이 </a:t>
            </a:r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</a:rPr>
              <a:t>0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에서 시작해 공격당할수록 증가하며</a:t>
            </a:r>
            <a:r>
              <a:rPr lang="en-US" altLang="ko-KR" sz="1200" dirty="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체력이 최대가 되면 잠시 후 </a:t>
            </a:r>
            <a:r>
              <a:rPr lang="ko-KR" altLang="en-US" sz="1200" dirty="0" err="1">
                <a:solidFill>
                  <a:schemeClr val="accent5">
                    <a:lumMod val="50000"/>
                  </a:schemeClr>
                </a:solidFill>
              </a:rPr>
              <a:t>디스폰됨</a:t>
            </a:r>
            <a:endParaRPr lang="en-US" altLang="ko-KR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9F7E33D-BA20-CABE-EFF7-68D9C0C5DE93}"/>
              </a:ext>
            </a:extLst>
          </p:cNvPr>
          <p:cNvSpPr/>
          <p:nvPr/>
        </p:nvSpPr>
        <p:spPr>
          <a:xfrm>
            <a:off x="4670322" y="1386349"/>
            <a:ext cx="2851355" cy="283169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20F573-4F11-C333-BE9D-351DDA8F6725}"/>
              </a:ext>
            </a:extLst>
          </p:cNvPr>
          <p:cNvSpPr txBox="1"/>
          <p:nvPr/>
        </p:nvSpPr>
        <p:spPr>
          <a:xfrm>
            <a:off x="5031657" y="1458413"/>
            <a:ext cx="209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5">
                    <a:lumMod val="50000"/>
                  </a:schemeClr>
                </a:solidFill>
              </a:rPr>
              <a:t>성장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4DE2B-3082-9A7D-BE9F-B14B88EC7396}"/>
              </a:ext>
            </a:extLst>
          </p:cNvPr>
          <p:cNvSpPr txBox="1"/>
          <p:nvPr/>
        </p:nvSpPr>
        <p:spPr>
          <a:xfrm>
            <a:off x="4670321" y="2866694"/>
            <a:ext cx="2851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장비 판매</a:t>
            </a:r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이전</a:t>
            </a:r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 단계의 장비를 획득함</a:t>
            </a:r>
            <a:r>
              <a:rPr lang="en-US" altLang="ko-KR" sz="1600" dirty="0">
                <a:solidFill>
                  <a:schemeClr val="accent5">
                    <a:lumMod val="50000"/>
                  </a:schemeClr>
                </a:solidFill>
              </a:rPr>
              <a:t>), </a:t>
            </a:r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물약 판매</a:t>
            </a:r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로</a:t>
            </a:r>
            <a:endParaRPr lang="en-US" altLang="ko-KR" sz="16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골드 획득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0D67DDE-6AE5-8F5B-7E1C-9A1E51AB80D9}"/>
              </a:ext>
            </a:extLst>
          </p:cNvPr>
          <p:cNvSpPr/>
          <p:nvPr/>
        </p:nvSpPr>
        <p:spPr>
          <a:xfrm>
            <a:off x="8502445" y="1386349"/>
            <a:ext cx="2851355" cy="2831690"/>
          </a:xfrm>
          <a:prstGeom prst="round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AB796C-8AC2-E83B-5F77-C8051748EA29}"/>
              </a:ext>
            </a:extLst>
          </p:cNvPr>
          <p:cNvSpPr txBox="1"/>
          <p:nvPr/>
        </p:nvSpPr>
        <p:spPr>
          <a:xfrm>
            <a:off x="8863780" y="1458413"/>
            <a:ext cx="2094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accent5">
                    <a:lumMod val="50000"/>
                  </a:schemeClr>
                </a:solidFill>
              </a:rPr>
              <a:t>진행</a:t>
            </a:r>
            <a:endParaRPr lang="ko-KR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388845-8A45-0AC3-E741-54FDA4C8042B}"/>
              </a:ext>
            </a:extLst>
          </p:cNvPr>
          <p:cNvSpPr txBox="1"/>
          <p:nvPr/>
        </p:nvSpPr>
        <p:spPr>
          <a:xfrm>
            <a:off x="8502444" y="2866694"/>
            <a:ext cx="28513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일정 레벨 </a:t>
            </a:r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이하</a:t>
            </a:r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를 달성하거나</a:t>
            </a:r>
            <a:endParaRPr lang="en-US" altLang="ko-KR" sz="16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보스를 처치하여</a:t>
            </a:r>
            <a:endParaRPr lang="en-US" altLang="ko-KR" sz="16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이전</a:t>
            </a:r>
            <a:r>
              <a:rPr lang="ko-KR" altLang="en-US" sz="1600" dirty="0">
                <a:solidFill>
                  <a:schemeClr val="accent5">
                    <a:lumMod val="50000"/>
                  </a:schemeClr>
                </a:solidFill>
              </a:rPr>
              <a:t> 지역으로 진행</a:t>
            </a:r>
            <a:endParaRPr lang="en-US" altLang="ko-KR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576C011A-D6B5-6411-40BD-734CC7F4F2FF}"/>
              </a:ext>
            </a:extLst>
          </p:cNvPr>
          <p:cNvGrpSpPr/>
          <p:nvPr/>
        </p:nvGrpSpPr>
        <p:grpSpPr>
          <a:xfrm>
            <a:off x="838200" y="4633942"/>
            <a:ext cx="10515600" cy="1675418"/>
            <a:chOff x="838200" y="4381254"/>
            <a:chExt cx="10515600" cy="1751803"/>
          </a:xfrm>
          <a:solidFill>
            <a:schemeClr val="bg1"/>
          </a:solidFill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185E5BF1-B820-BCCA-9436-F95739DF13EB}"/>
                </a:ext>
              </a:extLst>
            </p:cNvPr>
            <p:cNvSpPr/>
            <p:nvPr/>
          </p:nvSpPr>
          <p:spPr>
            <a:xfrm>
              <a:off x="838200" y="4381254"/>
              <a:ext cx="10515600" cy="1751803"/>
            </a:xfrm>
            <a:prstGeom prst="roundRect">
              <a:avLst/>
            </a:prstGeom>
            <a:grpFill/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2861C77-D253-DC40-A307-5D32E9B4ADC0}"/>
                </a:ext>
              </a:extLst>
            </p:cNvPr>
            <p:cNvSpPr txBox="1"/>
            <p:nvPr/>
          </p:nvSpPr>
          <p:spPr>
            <a:xfrm>
              <a:off x="5031657" y="4384554"/>
              <a:ext cx="2094271" cy="482713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solidFill>
                    <a:schemeClr val="accent5">
                      <a:lumMod val="50000"/>
                    </a:schemeClr>
                  </a:solidFill>
                </a:rPr>
                <a:t>모순</a:t>
              </a:r>
              <a:endParaRPr lang="ko-KR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B5177DC-481E-BD30-F980-66B10D95AB1C}"/>
                </a:ext>
              </a:extLst>
            </p:cNvPr>
            <p:cNvSpPr txBox="1"/>
            <p:nvPr/>
          </p:nvSpPr>
          <p:spPr>
            <a:xfrm>
              <a:off x="1676397" y="4897944"/>
              <a:ext cx="8804790" cy="112633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chemeClr val="accent5">
                      <a:lumMod val="50000"/>
                    </a:schemeClr>
                  </a:solidFill>
                </a:rPr>
                <a:t>적의 공격에 </a:t>
              </a:r>
              <a:r>
                <a:rPr lang="ko-KR" altLang="en-US" sz="1600" b="1" dirty="0" err="1">
                  <a:solidFill>
                    <a:schemeClr val="accent5">
                      <a:lumMod val="50000"/>
                    </a:schemeClr>
                  </a:solidFill>
                </a:rPr>
                <a:t>피격시</a:t>
              </a:r>
              <a:r>
                <a:rPr lang="ko-KR" alt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 체력이 증가</a:t>
              </a:r>
              <a:endParaRPr lang="en-US" altLang="ko-KR" sz="1600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ko-KR" altLang="en-US" sz="1600" dirty="0">
                  <a:solidFill>
                    <a:schemeClr val="accent5">
                      <a:lumMod val="50000"/>
                    </a:schemeClr>
                  </a:solidFill>
                </a:rPr>
                <a:t>이로 인해 </a:t>
              </a:r>
              <a:r>
                <a:rPr lang="ko-KR" alt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체력이 최대 체력을 넘어갈 경우</a:t>
              </a:r>
              <a:r>
                <a:rPr lang="en-US" altLang="ko-KR" sz="1600" dirty="0">
                  <a:solidFill>
                    <a:schemeClr val="accent5">
                      <a:lumMod val="50000"/>
                    </a:schemeClr>
                  </a:solidFill>
                </a:rPr>
                <a:t>, </a:t>
              </a:r>
              <a:r>
                <a:rPr lang="ko-KR" altLang="en-US" sz="1600" dirty="0">
                  <a:solidFill>
                    <a:schemeClr val="accent5">
                      <a:lumMod val="50000"/>
                    </a:schemeClr>
                  </a:solidFill>
                </a:rPr>
                <a:t>체력이 </a:t>
              </a:r>
              <a:r>
                <a:rPr lang="en-US" altLang="ko-KR" sz="1600" b="1" dirty="0">
                  <a:solidFill>
                    <a:schemeClr val="accent5">
                      <a:lumMod val="50000"/>
                    </a:schemeClr>
                  </a:solidFill>
                </a:rPr>
                <a:t>0</a:t>
              </a:r>
              <a:r>
                <a:rPr lang="ko-KR" altLang="en-US" sz="1600" dirty="0">
                  <a:solidFill>
                    <a:schemeClr val="accent5">
                      <a:lumMod val="50000"/>
                    </a:schemeClr>
                  </a:solidFill>
                </a:rPr>
                <a:t>으로 되돌아오며 </a:t>
              </a:r>
              <a:r>
                <a:rPr lang="ko-KR" alt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모순 게이지 증가</a:t>
              </a:r>
              <a:endParaRPr lang="en-US" altLang="ko-KR" sz="1600" b="1" dirty="0">
                <a:solidFill>
                  <a:schemeClr val="accent5">
                    <a:lumMod val="50000"/>
                  </a:schemeClr>
                </a:solidFill>
              </a:endParaRPr>
            </a:p>
            <a:p>
              <a:pPr algn="ctr"/>
              <a:r>
                <a:rPr lang="en-US" altLang="ko-KR" sz="1600" dirty="0">
                  <a:solidFill>
                    <a:schemeClr val="accent5">
                      <a:lumMod val="50000"/>
                    </a:schemeClr>
                  </a:solidFill>
                </a:rPr>
                <a:t>(</a:t>
              </a:r>
              <a:r>
                <a:rPr lang="ko-KR" altLang="en-US" sz="1600" dirty="0">
                  <a:solidFill>
                    <a:schemeClr val="accent5">
                      <a:lumMod val="50000"/>
                    </a:schemeClr>
                  </a:solidFill>
                </a:rPr>
                <a:t>적의 특정 패턴으로 인해 모순 게이지가 증가될 수도 있음</a:t>
              </a:r>
              <a:r>
                <a:rPr lang="en-US" altLang="ko-KR" sz="1600" dirty="0">
                  <a:solidFill>
                    <a:schemeClr val="accent5">
                      <a:lumMod val="50000"/>
                    </a:schemeClr>
                  </a:solidFill>
                </a:rPr>
                <a:t>)</a:t>
              </a:r>
            </a:p>
            <a:p>
              <a:pPr algn="ctr"/>
              <a:r>
                <a:rPr lang="ko-KR" altLang="en-US" sz="1600" b="1" dirty="0">
                  <a:solidFill>
                    <a:schemeClr val="accent5">
                      <a:lumMod val="50000"/>
                    </a:schemeClr>
                  </a:solidFill>
                </a:rPr>
                <a:t>모순 게이지가 최대치 이상일 경우 게임오버</a:t>
              </a:r>
              <a:endParaRPr lang="en-US" altLang="ko-KR" sz="1600" b="1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EECBD4-6C72-66B8-7C3B-4DDA9DE6C4DE}"/>
              </a:ext>
            </a:extLst>
          </p:cNvPr>
          <p:cNvSpPr/>
          <p:nvPr/>
        </p:nvSpPr>
        <p:spPr>
          <a:xfrm>
            <a:off x="211015" y="211015"/>
            <a:ext cx="11769970" cy="645525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466361-46DF-1CAC-F4CC-5A961581C754}"/>
              </a:ext>
            </a:extLst>
          </p:cNvPr>
          <p:cNvSpPr/>
          <p:nvPr/>
        </p:nvSpPr>
        <p:spPr>
          <a:xfrm>
            <a:off x="1027471" y="4821943"/>
            <a:ext cx="1907458" cy="91974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7988BB-3798-4F67-8F26-326EF3DE0C1A}"/>
              </a:ext>
            </a:extLst>
          </p:cNvPr>
          <p:cNvSpPr/>
          <p:nvPr/>
        </p:nvSpPr>
        <p:spPr>
          <a:xfrm>
            <a:off x="1027471" y="4954411"/>
            <a:ext cx="1907458" cy="91974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9247B7E-FB8C-3798-6E0E-CEB221BF3E72}"/>
              </a:ext>
            </a:extLst>
          </p:cNvPr>
          <p:cNvSpPr/>
          <p:nvPr/>
        </p:nvSpPr>
        <p:spPr>
          <a:xfrm>
            <a:off x="1027471" y="4821943"/>
            <a:ext cx="1584284" cy="91974"/>
          </a:xfrm>
          <a:prstGeom prst="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5467BBA-CE68-1D29-9554-00D8597464CB}"/>
              </a:ext>
            </a:extLst>
          </p:cNvPr>
          <p:cNvSpPr/>
          <p:nvPr/>
        </p:nvSpPr>
        <p:spPr>
          <a:xfrm>
            <a:off x="1027472" y="4954411"/>
            <a:ext cx="780374" cy="9197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5101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8BA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9B3D7B2-C14E-1CAE-B0EF-76113794F7B3}"/>
              </a:ext>
            </a:extLst>
          </p:cNvPr>
          <p:cNvCxnSpPr>
            <a:cxnSpLocks/>
          </p:cNvCxnSpPr>
          <p:nvPr/>
        </p:nvCxnSpPr>
        <p:spPr>
          <a:xfrm>
            <a:off x="1882140" y="5124445"/>
            <a:ext cx="2522712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4ABBF25-DDA1-4A70-1A4E-C42CBBED16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83" y="1300287"/>
            <a:ext cx="721934" cy="7219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8C70E46-23F5-8A74-EA0A-4253AFDAD0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132" y="1214141"/>
            <a:ext cx="721934" cy="72193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0A364CC-2CA7-8609-5100-859567BDF9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83" y="532693"/>
            <a:ext cx="721934" cy="72193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D9821E7-11CD-4005-C842-A3859FF2B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83" y="2063484"/>
            <a:ext cx="721934" cy="7219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85997AC-3DA1-E35B-EE79-4D9BCD7D63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195" y="1967506"/>
            <a:ext cx="721934" cy="721934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D0C8DD40-3533-BD63-470C-DC0CF2DB1CFD}"/>
              </a:ext>
            </a:extLst>
          </p:cNvPr>
          <p:cNvGrpSpPr/>
          <p:nvPr/>
        </p:nvGrpSpPr>
        <p:grpSpPr>
          <a:xfrm>
            <a:off x="5506064" y="654186"/>
            <a:ext cx="5879690" cy="652262"/>
            <a:chOff x="838200" y="4381254"/>
            <a:chExt cx="10515600" cy="189722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F49A39F3-5742-50D6-EEAF-EC8178EBA38A}"/>
                </a:ext>
              </a:extLst>
            </p:cNvPr>
            <p:cNvSpPr/>
            <p:nvPr/>
          </p:nvSpPr>
          <p:spPr>
            <a:xfrm>
              <a:off x="838200" y="4381254"/>
              <a:ext cx="10515600" cy="1751803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6B0817D-52FE-020B-4E07-75C9334E90DB}"/>
                </a:ext>
              </a:extLst>
            </p:cNvPr>
            <p:cNvSpPr txBox="1"/>
            <p:nvPr/>
          </p:nvSpPr>
          <p:spPr>
            <a:xfrm>
              <a:off x="3129114" y="4577552"/>
              <a:ext cx="5933771" cy="17009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/>
                <a:t>플레이어를 향해 겨눔</a:t>
              </a:r>
              <a:endParaRPr lang="en-US" altLang="ko-KR" sz="1600" dirty="0"/>
            </a:p>
            <a:p>
              <a:pPr algn="ctr"/>
              <a:r>
                <a:rPr lang="ko-KR" altLang="en-US" sz="1600" dirty="0"/>
                <a:t>겨누는 애니메이션</a:t>
              </a:r>
              <a:endParaRPr lang="en-US" altLang="ko-KR" sz="1600" dirty="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E7BBB00-4539-3C6E-5CEC-52E74AF60578}"/>
              </a:ext>
            </a:extLst>
          </p:cNvPr>
          <p:cNvGrpSpPr/>
          <p:nvPr/>
        </p:nvGrpSpPr>
        <p:grpSpPr>
          <a:xfrm>
            <a:off x="5506064" y="1360120"/>
            <a:ext cx="5879690" cy="652262"/>
            <a:chOff x="5506064" y="1360120"/>
            <a:chExt cx="5879690" cy="652262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49781D4B-EA5E-E9B3-BD0E-2EF175B344CB}"/>
                </a:ext>
              </a:extLst>
            </p:cNvPr>
            <p:cNvSpPr/>
            <p:nvPr/>
          </p:nvSpPr>
          <p:spPr>
            <a:xfrm>
              <a:off x="5506064" y="1360120"/>
              <a:ext cx="5879690" cy="60226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52894A8-CF57-356A-F013-1FDA4E999CC6}"/>
                </a:ext>
              </a:extLst>
            </p:cNvPr>
            <p:cNvSpPr txBox="1"/>
            <p:nvPr/>
          </p:nvSpPr>
          <p:spPr>
            <a:xfrm>
              <a:off x="6787005" y="1427607"/>
              <a:ext cx="331780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/>
                <a:t>겨눈 방향으로 발사</a:t>
              </a:r>
              <a:endParaRPr lang="en-US" altLang="ko-KR" sz="1600" dirty="0"/>
            </a:p>
            <a:p>
              <a:pPr algn="ctr"/>
              <a:r>
                <a:rPr lang="ko-KR" altLang="en-US" sz="1600" dirty="0"/>
                <a:t>발사 애니메이션</a:t>
              </a:r>
              <a:endParaRPr lang="en-US" altLang="ko-KR" sz="1600" dirty="0"/>
            </a:p>
          </p:txBody>
        </p:sp>
      </p:grp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B677272-1AC3-5DEB-90E8-08E327035B75}"/>
              </a:ext>
            </a:extLst>
          </p:cNvPr>
          <p:cNvSpPr/>
          <p:nvPr/>
        </p:nvSpPr>
        <p:spPr>
          <a:xfrm>
            <a:off x="5506064" y="2106836"/>
            <a:ext cx="5879690" cy="6022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FD5D77-B4C3-7292-2E2D-9BB6AF50BC8D}"/>
              </a:ext>
            </a:extLst>
          </p:cNvPr>
          <p:cNvSpPr txBox="1"/>
          <p:nvPr/>
        </p:nvSpPr>
        <p:spPr>
          <a:xfrm>
            <a:off x="5761702" y="2156189"/>
            <a:ext cx="536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화살이 직선으로 이동</a:t>
            </a:r>
            <a:r>
              <a:rPr lang="en-US" altLang="ko-KR" sz="1600" dirty="0"/>
              <a:t>, </a:t>
            </a:r>
            <a:r>
              <a:rPr lang="ko-KR" altLang="en-US" sz="1600" dirty="0"/>
              <a:t>일정 거리 날아가고 사라짐</a:t>
            </a:r>
            <a:endParaRPr lang="en-US" altLang="ko-KR" sz="1600" dirty="0"/>
          </a:p>
          <a:p>
            <a:pPr algn="ctr"/>
            <a:r>
              <a:rPr lang="ko-KR" altLang="en-US" sz="1600" dirty="0"/>
              <a:t>플레이어가 </a:t>
            </a:r>
            <a:r>
              <a:rPr lang="ko-KR" altLang="en-US" sz="1600" dirty="0" err="1"/>
              <a:t>피격당하면</a:t>
            </a:r>
            <a:r>
              <a:rPr lang="ko-KR" altLang="en-US" sz="1600" dirty="0"/>
              <a:t> 체력을 잃음</a:t>
            </a:r>
            <a:endParaRPr lang="en-US" altLang="ko-KR" sz="16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FBEBE9D9-BFEF-BBDC-5079-667B1FA90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471" y="4749634"/>
            <a:ext cx="721934" cy="72193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DB23A53-B7D6-7A1F-1919-F8ABB266C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83" y="4022526"/>
            <a:ext cx="721934" cy="72193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F5970B7-C14C-C880-63B9-52DF73F2B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195" y="3926548"/>
            <a:ext cx="721934" cy="721934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17239E73-AD82-D045-04A2-C350865203E7}"/>
              </a:ext>
            </a:extLst>
          </p:cNvPr>
          <p:cNvSpPr/>
          <p:nvPr/>
        </p:nvSpPr>
        <p:spPr>
          <a:xfrm>
            <a:off x="5506064" y="4895613"/>
            <a:ext cx="5879690" cy="60226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F6F1BB-7027-D816-3491-8308A39A57A8}"/>
              </a:ext>
            </a:extLst>
          </p:cNvPr>
          <p:cNvSpPr txBox="1"/>
          <p:nvPr/>
        </p:nvSpPr>
        <p:spPr>
          <a:xfrm>
            <a:off x="5506064" y="4963100"/>
            <a:ext cx="5879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플레이어가 화살에 </a:t>
            </a:r>
            <a:r>
              <a:rPr lang="ko-KR" altLang="en-US" sz="1600" dirty="0" err="1"/>
              <a:t>피격당하면</a:t>
            </a:r>
            <a:r>
              <a:rPr lang="ko-KR" altLang="en-US" sz="1600" dirty="0"/>
              <a:t> 체력을 </a:t>
            </a:r>
            <a:r>
              <a:rPr lang="ko-KR" altLang="en-US" sz="1600" b="1" dirty="0"/>
              <a:t>얻고</a:t>
            </a:r>
            <a:r>
              <a:rPr lang="ko-KR" altLang="en-US" sz="1600" dirty="0"/>
              <a:t> </a:t>
            </a:r>
            <a:r>
              <a:rPr lang="ko-KR" altLang="en-US" sz="1600" b="1" dirty="0"/>
              <a:t>모순 증가</a:t>
            </a:r>
            <a:r>
              <a:rPr lang="en-US" altLang="ko-KR" sz="1600" dirty="0"/>
              <a:t> </a:t>
            </a:r>
          </a:p>
          <a:p>
            <a:pPr algn="ctr"/>
            <a:r>
              <a:rPr lang="ko-KR" altLang="en-US" sz="1600" dirty="0"/>
              <a:t>이외의 경우 화살은 해골의 위치로 돌아와 사라짐</a:t>
            </a:r>
            <a:endParaRPr lang="en-US" altLang="ko-KR" sz="1600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9021F20A-106F-75E7-A4E9-B0F188E3E62D}"/>
              </a:ext>
            </a:extLst>
          </p:cNvPr>
          <p:cNvGrpSpPr/>
          <p:nvPr/>
        </p:nvGrpSpPr>
        <p:grpSpPr>
          <a:xfrm>
            <a:off x="5506064" y="4058089"/>
            <a:ext cx="5879690" cy="652262"/>
            <a:chOff x="5506064" y="5614843"/>
            <a:chExt cx="5879690" cy="652262"/>
          </a:xfrm>
        </p:grpSpPr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51571BA7-DDB8-AF5E-3ED1-28E627BE2E9C}"/>
                </a:ext>
              </a:extLst>
            </p:cNvPr>
            <p:cNvSpPr/>
            <p:nvPr/>
          </p:nvSpPr>
          <p:spPr>
            <a:xfrm>
              <a:off x="5506064" y="5614843"/>
              <a:ext cx="5879690" cy="60226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F5F82CC-53C8-DB59-605A-6E772E2F6833}"/>
                </a:ext>
              </a:extLst>
            </p:cNvPr>
            <p:cNvSpPr txBox="1"/>
            <p:nvPr/>
          </p:nvSpPr>
          <p:spPr>
            <a:xfrm>
              <a:off x="5506064" y="5682330"/>
              <a:ext cx="587969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/>
                <a:t>화살이 생성되어 </a:t>
              </a:r>
              <a:r>
                <a:rPr lang="ko-KR" altLang="en-US" sz="1600" b="1" dirty="0" err="1"/>
                <a:t>해골에게로</a:t>
              </a:r>
              <a:r>
                <a:rPr lang="ko-KR" altLang="en-US" sz="1600" b="1" dirty="0"/>
                <a:t> 이동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발사 애니메이션</a:t>
              </a:r>
              <a:endParaRPr lang="en-US" altLang="ko-KR" sz="1600" dirty="0"/>
            </a:p>
            <a:p>
              <a:pPr algn="ctr"/>
              <a:r>
                <a:rPr lang="ko-KR" altLang="en-US" sz="1600" dirty="0"/>
                <a:t>보라색 선 생성됨</a:t>
              </a:r>
              <a:endParaRPr lang="en-US" altLang="ko-KR" sz="1600" dirty="0"/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8C3C345E-2D28-DA4A-52C7-1B5EE9FC39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83" y="5705214"/>
            <a:ext cx="721934" cy="721934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A9C6A6CB-5A0F-C3E6-9FBF-E67DB9D5E315}"/>
              </a:ext>
            </a:extLst>
          </p:cNvPr>
          <p:cNvGrpSpPr/>
          <p:nvPr/>
        </p:nvGrpSpPr>
        <p:grpSpPr>
          <a:xfrm>
            <a:off x="5506064" y="5705214"/>
            <a:ext cx="5879690" cy="898484"/>
            <a:chOff x="838200" y="4381254"/>
            <a:chExt cx="10515600" cy="2613401"/>
          </a:xfrm>
        </p:grpSpPr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DEFDFF58-EF16-0142-7C6D-C2B7421BB332}"/>
                </a:ext>
              </a:extLst>
            </p:cNvPr>
            <p:cNvSpPr/>
            <p:nvPr/>
          </p:nvSpPr>
          <p:spPr>
            <a:xfrm>
              <a:off x="838200" y="4381254"/>
              <a:ext cx="10515600" cy="2613401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65B094A-FB51-35D0-D7ED-5BEA2D5B7E67}"/>
                </a:ext>
              </a:extLst>
            </p:cNvPr>
            <p:cNvSpPr txBox="1"/>
            <p:nvPr/>
          </p:nvSpPr>
          <p:spPr>
            <a:xfrm>
              <a:off x="1066798" y="4577552"/>
              <a:ext cx="10058405" cy="24171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/>
                <a:t>화살이 돌아왔던 방향으로 겨누는 애니메이션</a:t>
              </a:r>
              <a:endParaRPr lang="en-US" altLang="ko-KR" sz="1600" dirty="0"/>
            </a:p>
            <a:p>
              <a:pPr algn="ctr"/>
              <a:r>
                <a:rPr lang="en-US" altLang="ko-KR" sz="1600" dirty="0"/>
                <a:t>-&gt;</a:t>
              </a:r>
              <a:r>
                <a:rPr lang="ko-KR" altLang="en-US" sz="1600" dirty="0"/>
                <a:t>잠시 후 플레이어 쪽을 겨누기 시작</a:t>
              </a:r>
              <a:r>
                <a:rPr lang="en-US" altLang="ko-KR" sz="1600" dirty="0"/>
                <a:t>, </a:t>
              </a:r>
              <a:r>
                <a:rPr lang="ko-KR" altLang="en-US" sz="1600" dirty="0"/>
                <a:t>보라색 선 소멸</a:t>
              </a:r>
              <a:endParaRPr lang="en-US" altLang="ko-KR" sz="1600" dirty="0"/>
            </a:p>
            <a:p>
              <a:pPr algn="ctr"/>
              <a:r>
                <a:rPr lang="ko-KR" altLang="en-US" sz="1600" b="1" dirty="0"/>
                <a:t>플레이어가 보라색 선을 지나지 않았다면 모순 증가</a:t>
              </a:r>
              <a:endParaRPr lang="en-US" altLang="ko-KR" sz="1600" b="1" dirty="0"/>
            </a:p>
          </p:txBody>
        </p:sp>
      </p:grp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20ABAD5-C01E-8E79-0171-F569F9C79456}"/>
              </a:ext>
            </a:extLst>
          </p:cNvPr>
          <p:cNvCxnSpPr>
            <a:cxnSpLocks/>
          </p:cNvCxnSpPr>
          <p:nvPr/>
        </p:nvCxnSpPr>
        <p:spPr>
          <a:xfrm>
            <a:off x="1882140" y="4298535"/>
            <a:ext cx="2522712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6" name="그림 25">
            <a:extLst>
              <a:ext uri="{FF2B5EF4-FFF2-40B4-BE49-F238E27FC236}">
                <a16:creationId xmlns:a16="http://schemas.microsoft.com/office/drawing/2014/main" id="{009A24D5-3519-5123-37B4-23ADC940B2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683" y="4835780"/>
            <a:ext cx="721934" cy="72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74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8BBB-FF55-92F0-81DF-1E4530368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517D7-D2B9-3AAD-9103-D9E03E203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일정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AB8B73-3A77-7F32-1F34-A330FEA444DE}"/>
              </a:ext>
            </a:extLst>
          </p:cNvPr>
          <p:cNvSpPr/>
          <p:nvPr/>
        </p:nvSpPr>
        <p:spPr>
          <a:xfrm>
            <a:off x="211015" y="211015"/>
            <a:ext cx="11769970" cy="6455256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1A3FEF9-C768-04B7-3FBA-1BCF609BE0F8}"/>
              </a:ext>
            </a:extLst>
          </p:cNvPr>
          <p:cNvGrpSpPr/>
          <p:nvPr/>
        </p:nvGrpSpPr>
        <p:grpSpPr>
          <a:xfrm>
            <a:off x="1061884" y="1481004"/>
            <a:ext cx="3008671" cy="1370350"/>
            <a:chOff x="838200" y="1386349"/>
            <a:chExt cx="2851355" cy="2831690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849A840A-C14A-064F-9E3A-4705F27E646C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4DAF989-AE77-8696-9452-9410F97691C0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1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:</a:t>
              </a:r>
              <a:r>
                <a:rPr lang="ko-KR" altLang="en-US" sz="2000" dirty="0"/>
                <a:t>지역</a:t>
              </a:r>
              <a:r>
                <a:rPr lang="en-US" altLang="ko-KR" sz="2000" dirty="0"/>
                <a:t>,</a:t>
              </a:r>
              <a:r>
                <a:rPr lang="ko-KR" altLang="en-US" sz="2000" dirty="0"/>
                <a:t>일시정지 등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CA3DD9-17D0-1954-6E1E-E1C2D35E639B}"/>
                </a:ext>
              </a:extLst>
            </p:cNvPr>
            <p:cNvSpPr txBox="1"/>
            <p:nvPr/>
          </p:nvSpPr>
          <p:spPr>
            <a:xfrm>
              <a:off x="1018867" y="2259045"/>
              <a:ext cx="2490020" cy="1717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기본 게임루프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플레이 상태</a:t>
              </a:r>
              <a:r>
                <a:rPr lang="en-US" altLang="ko-KR" sz="1200" dirty="0"/>
                <a:t>(</a:t>
              </a:r>
              <a:r>
                <a:rPr lang="ko-KR" altLang="en-US" sz="1200" dirty="0" err="1"/>
                <a:t>컷신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반투명 </a:t>
              </a:r>
              <a:r>
                <a:rPr lang="en-US" altLang="ko-KR" sz="1200" dirty="0"/>
                <a:t>UI/</a:t>
              </a:r>
              <a:r>
                <a:rPr lang="ko-KR" altLang="en-US" sz="1200" dirty="0"/>
                <a:t>플레이 중</a:t>
              </a:r>
              <a:r>
                <a:rPr lang="en-US" altLang="ko-KR" sz="1200" dirty="0"/>
                <a:t>), </a:t>
              </a:r>
              <a:r>
                <a:rPr lang="ko-KR" altLang="en-US" sz="1200" dirty="0"/>
                <a:t>일시정지 여부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지도 제작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해금된 지역간 이동</a:t>
              </a:r>
              <a:endParaRPr lang="en-US" altLang="ko-KR" sz="1200" dirty="0"/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81B984AB-66C4-4526-2077-4AB0E0166A0E}"/>
              </a:ext>
            </a:extLst>
          </p:cNvPr>
          <p:cNvGrpSpPr/>
          <p:nvPr/>
        </p:nvGrpSpPr>
        <p:grpSpPr>
          <a:xfrm>
            <a:off x="4296697" y="1481004"/>
            <a:ext cx="3008671" cy="1370350"/>
            <a:chOff x="838200" y="1386349"/>
            <a:chExt cx="2851355" cy="2831690"/>
          </a:xfrm>
        </p:grpSpPr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CDFB27EC-AD5A-7B8B-2657-9D0027C0EAE5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55F6E43-90BD-33C4-4F1F-D47F577CAAB4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2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:</a:t>
              </a:r>
              <a:r>
                <a:rPr lang="ko-KR" altLang="en-US" sz="2000" dirty="0"/>
                <a:t>플레이어</a:t>
              </a:r>
              <a:endParaRPr lang="ko-KR" altLang="en-US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C8F140B-CFFE-20F4-A364-6CEE6EE63CD9}"/>
                </a:ext>
              </a:extLst>
            </p:cNvPr>
            <p:cNvSpPr txBox="1"/>
            <p:nvPr/>
          </p:nvSpPr>
          <p:spPr>
            <a:xfrm>
              <a:off x="1018867" y="2259045"/>
              <a:ext cx="2490020" cy="1335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플레이어 이동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체력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인벤토리</a:t>
              </a:r>
              <a:r>
                <a:rPr lang="en-US" altLang="ko-KR" sz="1200" dirty="0"/>
                <a:t>,</a:t>
              </a:r>
              <a:r>
                <a:rPr lang="ko-KR" altLang="en-US" sz="1200" dirty="0"/>
                <a:t> 부활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역순 진행 중 모순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게임 오버</a:t>
              </a:r>
              <a:endParaRPr lang="en-US" altLang="ko-KR" sz="1200" dirty="0"/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B47E1571-5487-CBE2-25CB-F47F0A3D6CB7}"/>
              </a:ext>
            </a:extLst>
          </p:cNvPr>
          <p:cNvGrpSpPr/>
          <p:nvPr/>
        </p:nvGrpSpPr>
        <p:grpSpPr>
          <a:xfrm>
            <a:off x="7486135" y="1481004"/>
            <a:ext cx="3008671" cy="1714480"/>
            <a:chOff x="838200" y="1386349"/>
            <a:chExt cx="2851355" cy="5925416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69622FD4-A2B8-11F2-517E-EF7DF8C468F4}"/>
                </a:ext>
              </a:extLst>
            </p:cNvPr>
            <p:cNvSpPr/>
            <p:nvPr/>
          </p:nvSpPr>
          <p:spPr>
            <a:xfrm>
              <a:off x="838200" y="1386349"/>
              <a:ext cx="2851355" cy="5925416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E4EAF5A-48AB-9A9A-A255-59D9AE99FCF8}"/>
                </a:ext>
              </a:extLst>
            </p:cNvPr>
            <p:cNvSpPr txBox="1"/>
            <p:nvPr/>
          </p:nvSpPr>
          <p:spPr>
            <a:xfrm>
              <a:off x="838200" y="1471248"/>
              <a:ext cx="2816941" cy="1382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2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~:</a:t>
              </a:r>
              <a:r>
                <a:rPr lang="ko-KR" altLang="en-US" sz="2000" dirty="0"/>
                <a:t>적</a:t>
              </a:r>
              <a:r>
                <a:rPr lang="en-US" altLang="ko-KR" sz="2000" dirty="0"/>
                <a:t>,</a:t>
              </a:r>
              <a:r>
                <a:rPr lang="ko-KR" altLang="en-US" sz="2000" dirty="0" err="1"/>
                <a:t>파티클</a:t>
              </a:r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057A053-E060-F561-C20F-9BE3A960EFE1}"/>
                </a:ext>
              </a:extLst>
            </p:cNvPr>
            <p:cNvSpPr txBox="1"/>
            <p:nvPr/>
          </p:nvSpPr>
          <p:spPr>
            <a:xfrm>
              <a:off x="838200" y="2479372"/>
              <a:ext cx="2851354" cy="47866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적 일반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역순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거리</a:t>
              </a:r>
              <a:r>
                <a:rPr lang="en-US" altLang="ko-KR" sz="1200" dirty="0"/>
                <a:t> </a:t>
              </a:r>
              <a:r>
                <a:rPr lang="ko-KR" altLang="en-US" sz="1200" dirty="0"/>
                <a:t>등을 인지하는 인공지능</a:t>
              </a:r>
              <a:endParaRPr lang="en-US" altLang="ko-KR" sz="1200" dirty="0"/>
            </a:p>
            <a:p>
              <a:pPr algn="ctr"/>
              <a:r>
                <a:rPr lang="ko-KR" altLang="en-US" sz="1200" dirty="0" err="1"/>
                <a:t>파티클을</a:t>
              </a:r>
              <a:r>
                <a:rPr lang="ko-KR" altLang="en-US" sz="1200" dirty="0"/>
                <a:t> 활용한 공격범위 표시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패턴마다 </a:t>
              </a:r>
              <a:r>
                <a:rPr lang="ko-KR" altLang="en-US" sz="1200" dirty="0" err="1"/>
                <a:t>공격시</a:t>
              </a:r>
              <a:r>
                <a:rPr lang="ko-KR" altLang="en-US" sz="1200" dirty="0"/>
                <a:t> 플레이어의 체력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모순 변화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일반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역순 상태에서 처치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생성</a:t>
              </a:r>
              <a:r>
                <a:rPr lang="en-US" altLang="ko-KR" sz="1200" dirty="0"/>
                <a:t>/</a:t>
              </a:r>
              <a:r>
                <a:rPr lang="ko-KR" altLang="en-US" sz="1200" dirty="0" err="1"/>
                <a:t>디스폰</a:t>
              </a:r>
              <a:r>
                <a:rPr lang="ko-KR" altLang="en-US" sz="1200" dirty="0"/>
                <a:t> 등 메커니즘 변화 등</a:t>
              </a:r>
              <a:r>
                <a:rPr lang="en-US" altLang="ko-KR" sz="1200" dirty="0"/>
                <a:t>…</a:t>
              </a:r>
            </a:p>
            <a:p>
              <a:pPr algn="ctr"/>
              <a:r>
                <a:rPr lang="ko-KR" altLang="en-US" sz="1200" dirty="0"/>
                <a:t>이후 가능하다면 계속하여 추가 예정</a:t>
              </a:r>
              <a:endParaRPr lang="en-US" altLang="ko-KR" sz="1200" dirty="0"/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426CFC7-A086-3837-7B91-23AD16452DF1}"/>
              </a:ext>
            </a:extLst>
          </p:cNvPr>
          <p:cNvGrpSpPr/>
          <p:nvPr/>
        </p:nvGrpSpPr>
        <p:grpSpPr>
          <a:xfrm>
            <a:off x="1061884" y="2978162"/>
            <a:ext cx="3008671" cy="1437990"/>
            <a:chOff x="838200" y="1386349"/>
            <a:chExt cx="2851355" cy="2971461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95E40C05-AD8A-52D4-50C3-F4C049901E64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5AFA78E-FB89-721E-3775-3593D8093B6E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5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:</a:t>
              </a:r>
              <a:r>
                <a:rPr lang="ko-KR" altLang="en-US" sz="2000" dirty="0"/>
                <a:t>보스</a:t>
              </a:r>
              <a:r>
                <a:rPr lang="en-US" altLang="ko-KR" sz="2000" dirty="0"/>
                <a:t>,UI</a:t>
              </a:r>
              <a:endParaRPr lang="ko-KR" altLang="en-US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54898F65-2A1D-E3F4-E772-2DE8EE88E75D}"/>
                </a:ext>
              </a:extLst>
            </p:cNvPr>
            <p:cNvSpPr txBox="1"/>
            <p:nvPr/>
          </p:nvSpPr>
          <p:spPr>
            <a:xfrm>
              <a:off x="838200" y="2259045"/>
              <a:ext cx="2851354" cy="2098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보스는 적의 일종으로 생성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보스 처치</a:t>
              </a:r>
              <a:r>
                <a:rPr lang="en-US" altLang="ko-KR" sz="1200" dirty="0"/>
                <a:t>/</a:t>
              </a:r>
              <a:r>
                <a:rPr lang="ko-KR" altLang="en-US" sz="1200" dirty="0" err="1"/>
                <a:t>디스폰</a:t>
              </a:r>
              <a:r>
                <a:rPr lang="ko-KR" altLang="en-US" sz="1200" dirty="0"/>
                <a:t> 시 지역 해금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일반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역순 상태에 따라 나타나는 </a:t>
              </a:r>
              <a:r>
                <a:rPr lang="en-US" altLang="ko-KR" sz="1200" dirty="0"/>
                <a:t>UI</a:t>
              </a:r>
              <a:r>
                <a:rPr lang="ko-KR" altLang="en-US" sz="1200" dirty="0"/>
                <a:t> 변화</a:t>
              </a:r>
              <a:endParaRPr lang="en-US" altLang="ko-KR" sz="1200" dirty="0"/>
            </a:p>
            <a:p>
              <a:pPr algn="ctr"/>
              <a:endParaRPr lang="en-US" altLang="ko-KR" sz="1200" dirty="0"/>
            </a:p>
            <a:p>
              <a:pPr algn="ctr"/>
              <a:endParaRPr lang="en-US" altLang="ko-KR" sz="1200" dirty="0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285B6DD1-0602-608A-EBEF-4646F221EDB3}"/>
              </a:ext>
            </a:extLst>
          </p:cNvPr>
          <p:cNvGrpSpPr/>
          <p:nvPr/>
        </p:nvGrpSpPr>
        <p:grpSpPr>
          <a:xfrm>
            <a:off x="7449822" y="3363378"/>
            <a:ext cx="3008671" cy="985134"/>
            <a:chOff x="838200" y="1386349"/>
            <a:chExt cx="2851355" cy="2831690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FEC4F70C-48A8-A785-C4C7-C96D58CDFCE4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3089A5-8F5D-5356-CC92-5CADB5536B86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5~6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:</a:t>
              </a:r>
              <a:r>
                <a:rPr lang="ko-KR" altLang="en-US" sz="2000" dirty="0" err="1"/>
                <a:t>스프라이트</a:t>
              </a:r>
              <a:endParaRPr lang="ko-KR" alt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6225777-DFFE-4F2C-3972-10A78C94D6BA}"/>
                </a:ext>
              </a:extLst>
            </p:cNvPr>
            <p:cNvSpPr txBox="1"/>
            <p:nvPr/>
          </p:nvSpPr>
          <p:spPr>
            <a:xfrm>
              <a:off x="838200" y="2547431"/>
              <a:ext cx="2851354" cy="13355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테스트용 이미지들을 모두 적절한 리소스로 교체</a:t>
              </a:r>
              <a:r>
                <a:rPr lang="en-US" altLang="ko-KR" sz="1200" dirty="0"/>
                <a:t>, </a:t>
              </a:r>
              <a:r>
                <a:rPr lang="ko-KR" altLang="en-US" sz="1200" dirty="0" err="1"/>
                <a:t>스프라이트</a:t>
              </a:r>
              <a:r>
                <a:rPr lang="ko-KR" altLang="en-US" sz="1200" dirty="0"/>
                <a:t> 애니메이션 적용</a:t>
              </a:r>
              <a:endParaRPr lang="en-US" altLang="ko-KR" sz="1200" dirty="0"/>
            </a:p>
            <a:p>
              <a:pPr algn="ctr"/>
              <a:endParaRPr lang="en-US" altLang="ko-KR" sz="1200" dirty="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E352E793-F3E9-FB2B-CAD5-4FCA0D8B2DFD}"/>
              </a:ext>
            </a:extLst>
          </p:cNvPr>
          <p:cNvGrpSpPr/>
          <p:nvPr/>
        </p:nvGrpSpPr>
        <p:grpSpPr>
          <a:xfrm>
            <a:off x="2548063" y="4475320"/>
            <a:ext cx="3008671" cy="1437990"/>
            <a:chOff x="838200" y="1386349"/>
            <a:chExt cx="2851355" cy="2971461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7BEAB2FB-F56C-58DA-B8C7-23D383BEB72E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E13284B-545D-7D37-647E-F7ECC7F357E4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7~8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:</a:t>
              </a:r>
              <a:r>
                <a:rPr lang="ko-KR" altLang="en-US" sz="2000" dirty="0"/>
                <a:t>상점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장애물</a:t>
              </a:r>
              <a:endParaRPr lang="ko-KR" alt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5504DDC8-5603-9BA0-DE0F-474AD52F6058}"/>
                </a:ext>
              </a:extLst>
            </p:cNvPr>
            <p:cNvSpPr txBox="1"/>
            <p:nvPr/>
          </p:nvSpPr>
          <p:spPr>
            <a:xfrm>
              <a:off x="838200" y="2259045"/>
              <a:ext cx="2851354" cy="20987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적과 플레이어의 이동을 제한하는 장애물을 </a:t>
              </a:r>
              <a:r>
                <a:rPr lang="ko-KR" altLang="en-US" sz="1200" dirty="0" err="1"/>
                <a:t>맵상에</a:t>
              </a:r>
              <a:r>
                <a:rPr lang="ko-KR" altLang="en-US" sz="1200" dirty="0"/>
                <a:t> 배치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일반</a:t>
              </a:r>
              <a:r>
                <a:rPr lang="en-US" altLang="ko-KR" sz="1200" dirty="0"/>
                <a:t>/</a:t>
              </a:r>
              <a:r>
                <a:rPr lang="ko-KR" altLang="en-US" sz="1200" dirty="0"/>
                <a:t>역순에 대응되는 상점 시스템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거래 시스템</a:t>
              </a:r>
              <a:endParaRPr lang="en-US" altLang="ko-KR" sz="1200" dirty="0"/>
            </a:p>
            <a:p>
              <a:pPr algn="ctr"/>
              <a:endParaRPr lang="en-US" altLang="ko-KR" sz="1200" dirty="0"/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264F3934-C818-1397-D47F-E7A53D21115E}"/>
              </a:ext>
            </a:extLst>
          </p:cNvPr>
          <p:cNvGrpSpPr/>
          <p:nvPr/>
        </p:nvGrpSpPr>
        <p:grpSpPr>
          <a:xfrm>
            <a:off x="5927330" y="4475320"/>
            <a:ext cx="3008671" cy="1370350"/>
            <a:chOff x="838200" y="1386349"/>
            <a:chExt cx="2851355" cy="2831690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D6AB9A8-4684-373D-8594-B0F3EBA13680}"/>
                </a:ext>
              </a:extLst>
            </p:cNvPr>
            <p:cNvSpPr/>
            <p:nvPr/>
          </p:nvSpPr>
          <p:spPr>
            <a:xfrm>
              <a:off x="838200" y="1386349"/>
              <a:ext cx="2851355" cy="2831690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1807D00-A088-FF9E-888B-E2A6EFE090B4}"/>
                </a:ext>
              </a:extLst>
            </p:cNvPr>
            <p:cNvSpPr txBox="1"/>
            <p:nvPr/>
          </p:nvSpPr>
          <p:spPr>
            <a:xfrm>
              <a:off x="838200" y="1471249"/>
              <a:ext cx="2816941" cy="826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/>
                <a:t>8</a:t>
              </a:r>
              <a:r>
                <a:rPr lang="ko-KR" altLang="en-US" sz="2000" dirty="0"/>
                <a:t>주차</a:t>
              </a:r>
              <a:r>
                <a:rPr lang="en-US" altLang="ko-KR" sz="2000" dirty="0"/>
                <a:t>~:</a:t>
              </a:r>
              <a:r>
                <a:rPr lang="ko-KR" altLang="en-US" sz="2000" dirty="0"/>
                <a:t>사운드</a:t>
              </a:r>
              <a:r>
                <a:rPr lang="en-US" altLang="ko-KR" sz="2000" dirty="0"/>
                <a:t>,</a:t>
              </a:r>
              <a:r>
                <a:rPr lang="ko-KR" altLang="en-US" sz="2000" dirty="0"/>
                <a:t>추가</a:t>
              </a:r>
              <a:endParaRPr lang="ko-KR" altLang="en-US" dirty="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910D419-822E-2A01-7BF6-2C72CF0673C2}"/>
                </a:ext>
              </a:extLst>
            </p:cNvPr>
            <p:cNvSpPr txBox="1"/>
            <p:nvPr/>
          </p:nvSpPr>
          <p:spPr>
            <a:xfrm>
              <a:off x="838200" y="2259045"/>
              <a:ext cx="2851354" cy="17171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dirty="0"/>
                <a:t>효과음 추가</a:t>
              </a:r>
              <a:endParaRPr lang="en-US" altLang="ko-KR" sz="1200" dirty="0"/>
            </a:p>
            <a:p>
              <a:pPr algn="ctr"/>
              <a:r>
                <a:rPr lang="ko-KR" altLang="en-US" sz="1200" dirty="0" err="1"/>
                <a:t>컷씬</a:t>
              </a:r>
              <a:r>
                <a:rPr lang="en-US" altLang="ko-KR" sz="1200" dirty="0"/>
                <a:t> </a:t>
              </a:r>
              <a:r>
                <a:rPr lang="ko-KR" altLang="en-US" sz="1200" dirty="0"/>
                <a:t>등 추가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시간이 남는다면 </a:t>
              </a:r>
              <a:r>
                <a:rPr lang="ko-KR" altLang="en-US" sz="1200" dirty="0" err="1"/>
                <a:t>메인화면</a:t>
              </a:r>
              <a:r>
                <a:rPr lang="en-US" altLang="ko-KR" sz="1200" dirty="0"/>
                <a:t> </a:t>
              </a:r>
              <a:r>
                <a:rPr lang="ko-KR" altLang="en-US" sz="1200" dirty="0"/>
                <a:t>등 추가적인 구현</a:t>
              </a:r>
              <a:r>
                <a:rPr lang="en-US" altLang="ko-KR" sz="12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9659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400</Words>
  <Application>Microsoft Office PowerPoint</Application>
  <PresentationFormat>와이드스크린</PresentationFormat>
  <Paragraphs>76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 Reverse Progressing Game 개발 프로젝트 발표 </vt:lpstr>
      <vt:lpstr>진행 방식</vt:lpstr>
      <vt:lpstr>진행 방식-역순</vt:lpstr>
      <vt:lpstr>PowerPoint 프레젠테이션</vt:lpstr>
      <vt:lpstr>개발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신승민(2024182021)</dc:creator>
  <cp:lastModifiedBy>신승민(2024182021)</cp:lastModifiedBy>
  <cp:revision>1</cp:revision>
  <dcterms:created xsi:type="dcterms:W3CDTF">2025-10-01T06:37:00Z</dcterms:created>
  <dcterms:modified xsi:type="dcterms:W3CDTF">2025-10-01T14:52:08Z</dcterms:modified>
</cp:coreProperties>
</file>